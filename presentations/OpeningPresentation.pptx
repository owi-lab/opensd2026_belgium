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9"/>
  </p:notesMasterIdLst>
  <p:sldIdLst>
    <p:sldId id="256" r:id="rId3"/>
    <p:sldId id="258" r:id="rId4"/>
    <p:sldId id="325" r:id="rId5"/>
    <p:sldId id="346" r:id="rId6"/>
    <p:sldId id="343" r:id="rId7"/>
    <p:sldId id="344" r:id="rId8"/>
    <p:sldId id="345" r:id="rId9"/>
    <p:sldId id="347" r:id="rId10"/>
    <p:sldId id="351" r:id="rId11"/>
    <p:sldId id="349" r:id="rId12"/>
    <p:sldId id="350" r:id="rId13"/>
    <p:sldId id="352" r:id="rId14"/>
    <p:sldId id="353" r:id="rId15"/>
    <p:sldId id="354" r:id="rId16"/>
    <p:sldId id="355" r:id="rId17"/>
    <p:sldId id="356" r:id="rId18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858C6-6998-4558-86EB-0D494A162BEE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633B0-9CC6-49FF-BF71-61A493676441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4968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633B0-9CC6-49FF-BF71-61A493676441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94432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51B4-1F19-3097-90D5-C8CAAC1F1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510692F-B6C3-8D61-3DC1-5E1954A7F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4DA5921A-5668-DF33-EF33-2D2A3C882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C0E9910-7253-B959-6CAF-119E6A95F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633B0-9CC6-49FF-BF71-61A493676441}" type="slidenum">
              <a:rPr lang="nl-BE" smtClean="0"/>
              <a:t>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47961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07FAA-DC76-858D-9719-7AAF7672C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4162ECA-A1A8-EB6A-B9FC-FC6B48CA4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699E0FD5-DC92-F626-6892-6FF551429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9E7AB18-5DE1-5C51-82C2-D8FCA7D91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633B0-9CC6-49FF-BF71-61A493676441}" type="slidenum">
              <a:rPr lang="nl-BE" smtClean="0"/>
              <a:t>10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88245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08C31-4DB6-3DBA-6B06-BC2F00B6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33625466-D8E2-6E29-A7C7-A36BD036C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18C79AE-98D8-EC50-F801-025A3DE658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B9D9CA-F7C6-8C68-C59B-742DABA7A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E633B0-9CC6-49FF-BF71-61A493676441}" type="slidenum">
              <a:rPr lang="nl-BE" smtClean="0"/>
              <a:t>16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6244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F7DA6C-EDA4-8592-F54A-BA4F864A1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D298E40-C5CA-C144-C949-7A7ECA2CF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DE381B2-48B7-9269-7CB4-136285674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AB05F2-9584-561A-EAA8-5077B626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7DAC26-B8B4-1AB3-2BEE-4A2BE4E1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9387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1F8F8-8F1C-35C3-F893-52B91C663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FA30E6C-D333-3ACC-DA39-2154B1F8B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2FA6BB3-911D-7201-2E2B-ED967EAE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CB43593-1577-AE9D-B3C0-819B55D0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69AE85-509D-5444-C792-3215672D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F5CCB-A5AF-A7D2-2DDB-7CD407D8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63D43C-5B96-80D8-FCDD-19250977D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BBF7EDB-427D-084F-C52C-623B2F0E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57463A-40F9-5807-6E33-69A1CACD8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3AB2A25-A9D1-7F77-D6AA-9305AC1E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3015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72B7E9-D232-9B8A-40B4-1A8A9A170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6B6A322-9192-AC28-60E7-F45D34D95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738382A-DB50-5CC5-3D59-97A68E04B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35B311A-00AD-2B9E-464E-F98732A21A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FB8716A-727B-E015-D031-5BEC978CB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1199F2B-E349-D002-A49B-71222675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45211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FA83B-C8B4-1544-6A8C-8DDAECC2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0AB9BAD-2D95-12CD-8A14-F430EA7DE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7AC7997-8824-496D-292F-E90467D61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F547B07-D3A8-019A-475B-504C1487CA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3F948314-2EFB-2AE3-E835-0AE9DE2E2C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78CE394-6439-2E70-C785-FC8A73DE68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F3EE3D98-90FA-1A1C-217D-15C90443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EEDD7BF-C6DD-D8DE-3A56-C5B55CBE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62050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A7A29-211B-DF4E-83D7-3BEDBA49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8F392AE-FC4C-E54E-54A6-4B7A80FC39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03C4042-B708-993A-C300-558B120B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3412FBF-3B4E-DDCF-8187-AFD17C81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3440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25D50C39-4984-7E85-DA38-EA9BCBF8D8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9ABEE93-EE0C-8B3C-798D-4378B9DFB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7969140-1AF0-AC14-2F37-9C427B4D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9154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FE899C-7511-6BF6-88B4-92FF24495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D61B456-8884-AA9E-9576-1758E647E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FA7664B-14D3-4CC6-3877-5BE17D323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7971F07-F5A3-4917-2F03-F8F25006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A86F97A-0341-510C-F4DD-95E868D4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6015A5E-864A-4D9B-0F30-83440D86C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0559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2193ED-7EB6-74CB-829A-27F0E6551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75B55F94-74F4-3297-A1A4-0225D7C62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2FF6E8-A682-05DE-7261-4F3EC0799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13F19C5-92EF-2D67-E439-25849B45C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DA790E7-C811-1F6D-D7AC-94341115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D24E0F9-7463-03E9-2C16-786D8003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352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BB3187-2381-B8EB-036F-E6434C805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D13F94D-4CA7-85EC-6DE0-996208260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BB84CB-19EA-7B74-304A-50FA4B76C3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8126806-751C-3ABE-C316-6C079417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7825FC-7442-00B3-15CD-F7257EF4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2598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D2D8BAE-7701-FEC2-A16C-F8FC0AF0F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1AB141C-27CE-DB48-4697-95DA98A6C2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B558C5-3481-96C6-CB16-764DCAAA2A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BA49AB8-C167-CDA6-8F96-B5ED3DFAA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050950E-C14D-5B9B-3BCB-1D9B91C6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2930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12963" y="6313264"/>
            <a:ext cx="84193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6264" y="6309614"/>
            <a:ext cx="648364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447ED8-871C-48F0-BF90-4E637BB29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48658"/>
            <a:ext cx="11029616" cy="49355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F966DA7-E742-4F59-A809-CE1A6D5D8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457325"/>
            <a:ext cx="11029616" cy="44037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61D50-0454-43CB-82E5-382C46993C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191" y="842211"/>
            <a:ext cx="11029616" cy="44525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BE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E27051A-B36B-47D4-9DC7-D1C06277B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6596" y="6310790"/>
            <a:ext cx="59199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err="1"/>
              <a:t>py</a:t>
            </a:r>
            <a:r>
              <a:rPr lang="en-US" dirty="0"/>
              <a:t>-Fatigue: Efficiently process, store and </a:t>
            </a:r>
            <a:r>
              <a:rPr lang="en-US" dirty="0" err="1"/>
              <a:t>analyse</a:t>
            </a:r>
            <a:r>
              <a:rPr lang="en-US" dirty="0"/>
              <a:t> load data for fatigue assessments </a:t>
            </a:r>
          </a:p>
        </p:txBody>
      </p:sp>
      <p:pic>
        <p:nvPicPr>
          <p:cNvPr id="2" name="Afbeelding 1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D8056F70-81BD-6C6A-D94E-D54241CEB1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04226" y="6204871"/>
            <a:ext cx="541183" cy="54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168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457325"/>
            <a:ext cx="5194767" cy="44037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457325"/>
            <a:ext cx="5194769" cy="440372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7437231-5CAD-48BD-BF67-991BF7C46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48658"/>
            <a:ext cx="11029616" cy="4935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8E0E01D-1BE0-4BFA-B307-E5546B5E6C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191" y="842211"/>
            <a:ext cx="11029616" cy="445251"/>
          </a:xfrm>
        </p:spPr>
        <p:txBody>
          <a:bodyPr/>
          <a:lstStyle>
            <a:lvl1pPr marL="0" indent="0"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BE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3117F62-02CF-46F7-97F5-FADD3B58E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1287" y="6309614"/>
            <a:ext cx="71004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Novelty detection in the SHM data of an OWT</a:t>
            </a:r>
          </a:p>
        </p:txBody>
      </p:sp>
    </p:spTree>
    <p:extLst>
      <p:ext uri="{BB962C8B-B14F-4D97-AF65-F5344CB8AC3E}">
        <p14:creationId xmlns:p14="http://schemas.microsoft.com/office/powerpoint/2010/main" val="17651259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1403166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022718"/>
            <a:ext cx="5194766" cy="383833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1403167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022718"/>
            <a:ext cx="5194771" cy="383833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72082E3-F25F-4FBC-BCA4-8DB344FB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48658"/>
            <a:ext cx="11029616" cy="4935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C28EBD3-10C8-426F-8FCE-87F253BEE3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191" y="842211"/>
            <a:ext cx="11029616" cy="44525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B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8809AB1-6C43-4350-82CE-AE7A70FE1B0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361287" y="6309614"/>
            <a:ext cx="71004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Novelty detection in the SHM data of an OWT</a:t>
            </a:r>
          </a:p>
        </p:txBody>
      </p:sp>
    </p:spTree>
    <p:extLst>
      <p:ext uri="{BB962C8B-B14F-4D97-AF65-F5344CB8AC3E}">
        <p14:creationId xmlns:p14="http://schemas.microsoft.com/office/powerpoint/2010/main" val="12479465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895E97-98D1-452F-9AF2-D2FA356A0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48658"/>
            <a:ext cx="11029616" cy="4935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DD10709-9743-4464-813E-0E0B1B7081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191" y="842211"/>
            <a:ext cx="11029616" cy="445251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B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4541E9C-CD5B-40D4-9821-333252FF5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1287" y="6309614"/>
            <a:ext cx="71004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Novelty detection in the SHM data of an OWT</a:t>
            </a:r>
          </a:p>
        </p:txBody>
      </p:sp>
    </p:spTree>
    <p:extLst>
      <p:ext uri="{BB962C8B-B14F-4D97-AF65-F5344CB8AC3E}">
        <p14:creationId xmlns:p14="http://schemas.microsoft.com/office/powerpoint/2010/main" val="2364006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87C8E-DB5A-45E1-B6AD-0CD60F427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1287" y="6309614"/>
            <a:ext cx="71004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Novelty detection in the SHM data of an OWT</a:t>
            </a:r>
          </a:p>
        </p:txBody>
      </p:sp>
    </p:spTree>
    <p:extLst>
      <p:ext uri="{BB962C8B-B14F-4D97-AF65-F5344CB8AC3E}">
        <p14:creationId xmlns:p14="http://schemas.microsoft.com/office/powerpoint/2010/main" val="39181131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1"/>
            <a:ext cx="3705083" cy="5437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30672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t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accent2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F4B3B82-D35A-47BD-B616-2CC2771DFE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593474" y="6309868"/>
            <a:ext cx="841930" cy="365125"/>
          </a:xfrm>
        </p:spPr>
        <p:txBody>
          <a:bodyPr/>
          <a:lstStyle/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5CFC25BB-FF4C-4184-BC75-5CFF6DCB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86536" y="6309614"/>
            <a:ext cx="648364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4A3512E8-8520-4457-B4D8-EAE038B6D2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7856" y="2303466"/>
            <a:ext cx="3031853" cy="4699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Click to add subtitle</a:t>
            </a:r>
            <a:endParaRPr lang="en-BE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6A4D042-4D07-41F5-A2A1-0C388B765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1287" y="6309614"/>
            <a:ext cx="71004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Novelty detection in the SHM data of an OWT</a:t>
            </a:r>
          </a:p>
        </p:txBody>
      </p:sp>
    </p:spTree>
    <p:extLst>
      <p:ext uri="{BB962C8B-B14F-4D97-AF65-F5344CB8AC3E}">
        <p14:creationId xmlns:p14="http://schemas.microsoft.com/office/powerpoint/2010/main" val="2430604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750148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8AE07C36-84E2-4F42-9F35-45AD213647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grayscl/>
          </a:blip>
          <a:srcRect t="6632" r="1133" b="28906"/>
          <a:stretch/>
        </p:blipFill>
        <p:spPr>
          <a:xfrm>
            <a:off x="447818" y="650657"/>
            <a:ext cx="11162989" cy="3641942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976034F-6DB1-42C5-96B2-C78E4397C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1287" y="6309614"/>
            <a:ext cx="71004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Novelty detection in the SHM data of an OWT</a:t>
            </a:r>
          </a:p>
        </p:txBody>
      </p:sp>
    </p:spTree>
    <p:extLst>
      <p:ext uri="{BB962C8B-B14F-4D97-AF65-F5344CB8AC3E}">
        <p14:creationId xmlns:p14="http://schemas.microsoft.com/office/powerpoint/2010/main" val="1289706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F7DA6C-EDA4-8592-F54A-BA4F864A1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D298E40-C5CA-C144-C949-7A7ECA2CF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DE381B2-48B7-9269-7CB4-136285674D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BFA458-6704-4359-8935-1EA419A68445}" type="datetimeFigureOut">
              <a:rPr lang="nl-BE" smtClean="0"/>
              <a:t>7/09/2026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9AB05F2-9584-561A-EAA8-5077B626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57DAC26-B8B4-1AB3-2BEE-4A2BE4E11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34F83B-0B46-4DB6-B4F9-91969CAC1A0F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46162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EED39F8-62A4-C400-320F-F8033A55A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7FE49C8-7736-8984-166A-C86D94655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555CEC6-9A22-710B-A3DE-8CD544723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pic>
        <p:nvPicPr>
          <p:cNvPr id="7" name="Tijdelijke aanduiding voor inhoud 8">
            <a:extLst>
              <a:ext uri="{FF2B5EF4-FFF2-40B4-BE49-F238E27FC236}">
                <a16:creationId xmlns:a16="http://schemas.microsoft.com/office/drawing/2014/main" id="{D788FC10-9F19-B253-2B0B-3B74C08E605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3002" y="6154645"/>
            <a:ext cx="2950798" cy="566830"/>
          </a:xfrm>
          <a:prstGeom prst="rect">
            <a:avLst/>
          </a:prstGeom>
        </p:spPr>
      </p:pic>
      <p:pic>
        <p:nvPicPr>
          <p:cNvPr id="9" name="Afbeelding 8" descr="Visuele identiteit - VUB | Vrije Universiteit Brussel">
            <a:extLst>
              <a:ext uri="{FF2B5EF4-FFF2-40B4-BE49-F238E27FC236}">
                <a16:creationId xmlns:a16="http://schemas.microsoft.com/office/drawing/2014/main" id="{87CD570C-8101-D44E-CF81-DA2D3A4D03B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8200" y="6226271"/>
            <a:ext cx="565150" cy="533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28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34317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586792"/>
            <a:ext cx="11029616" cy="4401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3474" y="6309868"/>
            <a:ext cx="8419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r>
              <a:rPr lang="fr-BE" dirty="0"/>
              <a:t>25/06/2023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36626" y="6309614"/>
            <a:ext cx="58688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err="1"/>
              <a:t>py</a:t>
            </a:r>
            <a:r>
              <a:rPr lang="en-US" dirty="0"/>
              <a:t>-Fatigue: Efficiently process, store and </a:t>
            </a:r>
            <a:r>
              <a:rPr lang="en-US" dirty="0" err="1"/>
              <a:t>analyse</a:t>
            </a:r>
            <a:r>
              <a:rPr lang="en-US" dirty="0"/>
              <a:t> load data for fatigue assessments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86536" y="6309614"/>
            <a:ext cx="6483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2678C809-5AF7-4C33-9A65-898C475E77D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633" y="6255265"/>
            <a:ext cx="1344175" cy="47382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5C6A182-A856-4E73-B163-C44153C2B6B1}"/>
              </a:ext>
            </a:extLst>
          </p:cNvPr>
          <p:cNvSpPr/>
          <p:nvPr userDrawn="1"/>
        </p:nvSpPr>
        <p:spPr>
          <a:xfrm>
            <a:off x="446534" y="19411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2AE262-B254-467C-89C7-E51C804E3ED0}"/>
              </a:ext>
            </a:extLst>
          </p:cNvPr>
          <p:cNvSpPr/>
          <p:nvPr userDrawn="1"/>
        </p:nvSpPr>
        <p:spPr>
          <a:xfrm>
            <a:off x="4241830" y="190557"/>
            <a:ext cx="7368978" cy="94997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nl-BE"/>
          </a:p>
        </p:txBody>
      </p:sp>
      <p:pic>
        <p:nvPicPr>
          <p:cNvPr id="8" name="Afbeelding 7" descr="Afbeelding met Lettertype, Graphics, grafische vormgeving, logo&#10;&#10;Automatisch gegenereerde beschrijving">
            <a:extLst>
              <a:ext uri="{FF2B5EF4-FFF2-40B4-BE49-F238E27FC236}">
                <a16:creationId xmlns:a16="http://schemas.microsoft.com/office/drawing/2014/main" id="{BAF77868-AFF5-E3ED-6ED2-AA0E8F40E1B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81192" y="6249397"/>
            <a:ext cx="2204302" cy="4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37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</p:sldLayoutIdLst>
  <p:hf hd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3200" b="0" kern="1200" cap="all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C0C7BD-5598-2859-A2D8-B019CAE880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A95EA95-62B4-F928-251E-9E09FFD33E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80D96347-FFFD-56F9-DCBC-FEFFABD9AF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33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87CBA83C-C44D-58B7-7C0A-BDCD4F6EAB7E}"/>
              </a:ext>
            </a:extLst>
          </p:cNvPr>
          <p:cNvSpPr txBox="1"/>
          <p:nvPr/>
        </p:nvSpPr>
        <p:spPr>
          <a:xfrm>
            <a:off x="2748116" y="5257800"/>
            <a:ext cx="669576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BE" dirty="0"/>
              <a:t>Need wifi? </a:t>
            </a:r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dirty="0" err="1"/>
              <a:t>possible</a:t>
            </a:r>
            <a:r>
              <a:rPr lang="nl-BE" dirty="0"/>
              <a:t> 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b="1" dirty="0" err="1"/>
              <a:t>Eduroam</a:t>
            </a:r>
            <a:endParaRPr lang="nl-BE" b="1" dirty="0"/>
          </a:p>
          <a:p>
            <a:pPr algn="ctr"/>
            <a:r>
              <a:rPr lang="nl-BE" dirty="0"/>
              <a:t> Else let </a:t>
            </a:r>
            <a:r>
              <a:rPr lang="nl-BE" dirty="0" err="1"/>
              <a:t>us</a:t>
            </a:r>
            <a:r>
              <a:rPr lang="nl-BE" dirty="0"/>
              <a:t> </a:t>
            </a:r>
            <a:r>
              <a:rPr lang="nl-BE" dirty="0" err="1"/>
              <a:t>know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a personal login</a:t>
            </a:r>
          </a:p>
        </p:txBody>
      </p:sp>
    </p:spTree>
    <p:extLst>
      <p:ext uri="{BB962C8B-B14F-4D97-AF65-F5344CB8AC3E}">
        <p14:creationId xmlns:p14="http://schemas.microsoft.com/office/powerpoint/2010/main" val="2659968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9273E-F918-BB24-728C-476F7F5F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OpenSD</a:t>
            </a:r>
            <a:r>
              <a:rPr lang="nl-BE" dirty="0"/>
              <a:t> : </a:t>
            </a:r>
            <a:r>
              <a:rPr lang="nl-BE" dirty="0" err="1"/>
              <a:t>From</a:t>
            </a:r>
            <a:r>
              <a:rPr lang="nl-BE" dirty="0"/>
              <a:t> Ljubljana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world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0E20FA-FB61-9C2F-6A19-8FCE84CD7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3FE729F2-56F1-049E-B77B-57E6A24A6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09231" cy="686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26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A450D7-E186-8A56-5D2B-F350517D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0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26/06/2023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0CDFC5B-7A7C-A59D-914D-9450C1E4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8EE3D-8CD1-4C3F-BD1C-C98C9596463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4C23052-18E8-32B0-6B2C-8B2EA34D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Context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AB488810-9B5D-9A49-229F-5F4C686F3B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 err="1"/>
              <a:t>Structural</a:t>
            </a:r>
            <a:r>
              <a:rPr lang="nl-BE" dirty="0"/>
              <a:t> health monitoring of offshore wind turbines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0EEF356-4F26-7BE9-D116-8F1D6DF27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-Fatigue: Efficiently process, store and </a:t>
            </a: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analyse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load data for fatigue assessments 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A7500BB-93A3-3B26-CC0F-E17ACA625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457326"/>
            <a:ext cx="6050516" cy="4558464"/>
          </a:xfrm>
        </p:spPr>
        <p:txBody>
          <a:bodyPr>
            <a:normAutofit lnSpcReduction="10000"/>
          </a:bodyPr>
          <a:lstStyle/>
          <a:p>
            <a:r>
              <a:rPr lang="nl-BE" dirty="0"/>
              <a:t>We are a part of </a:t>
            </a:r>
            <a:r>
              <a:rPr lang="nl-BE" dirty="0" err="1"/>
              <a:t>the</a:t>
            </a:r>
            <a:r>
              <a:rPr lang="nl-BE" dirty="0"/>
              <a:t> AVRG group, </a:t>
            </a:r>
            <a:r>
              <a:rPr lang="nl-BE" dirty="0" err="1"/>
              <a:t>previously</a:t>
            </a:r>
            <a:r>
              <a:rPr lang="nl-BE" dirty="0"/>
              <a:t> led </a:t>
            </a:r>
            <a:r>
              <a:rPr lang="nl-BE" dirty="0" err="1"/>
              <a:t>by</a:t>
            </a:r>
            <a:r>
              <a:rPr lang="nl-BE" dirty="0"/>
              <a:t> Prof. P. Guillaume, </a:t>
            </a:r>
            <a:r>
              <a:rPr lang="nl-BE" dirty="0" err="1"/>
              <a:t>with</a:t>
            </a:r>
            <a:r>
              <a:rPr lang="nl-BE" dirty="0"/>
              <a:t> a focus on </a:t>
            </a:r>
            <a:r>
              <a:rPr lang="nl-BE" dirty="0" err="1"/>
              <a:t>Experimental</a:t>
            </a:r>
            <a:r>
              <a:rPr lang="nl-BE" dirty="0"/>
              <a:t>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Operational</a:t>
            </a:r>
            <a:r>
              <a:rPr lang="nl-BE" dirty="0"/>
              <a:t> </a:t>
            </a:r>
            <a:r>
              <a:rPr lang="nl-BE" dirty="0" err="1"/>
              <a:t>Modal</a:t>
            </a:r>
            <a:r>
              <a:rPr lang="nl-BE" dirty="0"/>
              <a:t> Analysis (</a:t>
            </a:r>
            <a:r>
              <a:rPr lang="nl-BE" dirty="0" err="1"/>
              <a:t>pLSCF</a:t>
            </a:r>
            <a:r>
              <a:rPr lang="nl-BE" dirty="0"/>
              <a:t>, LMS </a:t>
            </a:r>
            <a:r>
              <a:rPr lang="nl-BE" dirty="0" err="1"/>
              <a:t>polyMAX</a:t>
            </a:r>
            <a:r>
              <a:rPr lang="nl-BE" dirty="0"/>
              <a:t>) </a:t>
            </a:r>
          </a:p>
          <a:p>
            <a:r>
              <a:rPr lang="nl-BE" dirty="0"/>
              <a:t>OWI-lab @ VUB has been monitoring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structural</a:t>
            </a:r>
            <a:r>
              <a:rPr lang="nl-BE" dirty="0"/>
              <a:t> health of (offshore) wind turbines </a:t>
            </a:r>
            <a:r>
              <a:rPr lang="nl-BE" dirty="0" err="1"/>
              <a:t>since</a:t>
            </a:r>
            <a:r>
              <a:rPr lang="nl-BE" dirty="0"/>
              <a:t> </a:t>
            </a:r>
            <a:r>
              <a:rPr lang="nl-BE" b="1" dirty="0"/>
              <a:t>2011</a:t>
            </a:r>
          </a:p>
          <a:p>
            <a:pPr lvl="1"/>
            <a:r>
              <a:rPr lang="nl-BE" dirty="0"/>
              <a:t>Development of </a:t>
            </a:r>
            <a:r>
              <a:rPr lang="nl-BE" dirty="0" err="1"/>
              <a:t>our</a:t>
            </a:r>
            <a:r>
              <a:rPr lang="nl-BE" dirty="0"/>
              <a:t> in-house data </a:t>
            </a:r>
            <a:r>
              <a:rPr lang="nl-BE" dirty="0" err="1"/>
              <a:t>acquisition</a:t>
            </a:r>
            <a:r>
              <a:rPr lang="nl-BE" dirty="0"/>
              <a:t> software (NI)</a:t>
            </a:r>
          </a:p>
          <a:p>
            <a:pPr lvl="1"/>
            <a:r>
              <a:rPr lang="nl-BE" dirty="0"/>
              <a:t>Long term </a:t>
            </a:r>
            <a:r>
              <a:rPr lang="nl-BE" dirty="0" err="1"/>
              <a:t>damping</a:t>
            </a:r>
            <a:r>
              <a:rPr lang="nl-BE" dirty="0"/>
              <a:t> </a:t>
            </a:r>
            <a:r>
              <a:rPr lang="nl-BE" dirty="0" err="1"/>
              <a:t>estimates</a:t>
            </a:r>
            <a:r>
              <a:rPr lang="nl-BE" dirty="0"/>
              <a:t> in situ (OMA)</a:t>
            </a:r>
          </a:p>
          <a:p>
            <a:pPr lvl="1"/>
            <a:r>
              <a:rPr lang="nl-BE" dirty="0"/>
              <a:t>Long term </a:t>
            </a:r>
            <a:r>
              <a:rPr lang="nl-BE" dirty="0" err="1"/>
              <a:t>resonance</a:t>
            </a:r>
            <a:r>
              <a:rPr lang="nl-BE" dirty="0"/>
              <a:t> </a:t>
            </a:r>
            <a:r>
              <a:rPr lang="nl-BE" dirty="0" err="1"/>
              <a:t>frequency</a:t>
            </a:r>
            <a:r>
              <a:rPr lang="nl-BE" dirty="0"/>
              <a:t> monitoring (OMA)</a:t>
            </a:r>
          </a:p>
          <a:p>
            <a:pPr lvl="1"/>
            <a:r>
              <a:rPr lang="nl-BE" dirty="0" err="1"/>
              <a:t>Inclination</a:t>
            </a:r>
            <a:r>
              <a:rPr lang="nl-BE" dirty="0"/>
              <a:t> / </a:t>
            </a:r>
            <a:r>
              <a:rPr lang="nl-BE" dirty="0" err="1"/>
              <a:t>Environmental</a:t>
            </a:r>
            <a:r>
              <a:rPr lang="nl-BE" dirty="0"/>
              <a:t> / Bolt monitoring</a:t>
            </a:r>
          </a:p>
          <a:p>
            <a:pPr lvl="1"/>
            <a:r>
              <a:rPr lang="nl-BE" dirty="0"/>
              <a:t>Load monitoring (</a:t>
            </a:r>
            <a:r>
              <a:rPr lang="nl-BE" dirty="0" err="1"/>
              <a:t>FBGs</a:t>
            </a:r>
            <a:r>
              <a:rPr lang="nl-BE" dirty="0"/>
              <a:t>, </a:t>
            </a:r>
            <a:r>
              <a:rPr lang="nl-BE" dirty="0" err="1"/>
              <a:t>Resitive</a:t>
            </a:r>
            <a:r>
              <a:rPr lang="nl-BE" dirty="0"/>
              <a:t> </a:t>
            </a:r>
            <a:r>
              <a:rPr lang="nl-BE" dirty="0" err="1"/>
              <a:t>SGs</a:t>
            </a:r>
            <a:r>
              <a:rPr lang="nl-BE" dirty="0"/>
              <a:t>)</a:t>
            </a:r>
          </a:p>
          <a:p>
            <a:pPr lvl="1"/>
            <a:r>
              <a:rPr lang="nl-BE" dirty="0"/>
              <a:t> </a:t>
            </a:r>
            <a:r>
              <a:rPr lang="nl-BE" dirty="0" err="1"/>
              <a:t>Fatigue</a:t>
            </a:r>
            <a:r>
              <a:rPr lang="nl-BE" dirty="0"/>
              <a:t> life monitoring </a:t>
            </a:r>
          </a:p>
          <a:p>
            <a:pPr lvl="1"/>
            <a:endParaRPr lang="nl-BE" dirty="0"/>
          </a:p>
          <a:p>
            <a:r>
              <a:rPr lang="nl-BE" dirty="0" err="1"/>
              <a:t>Today</a:t>
            </a:r>
            <a:r>
              <a:rPr lang="nl-BE" dirty="0"/>
              <a:t> (</a:t>
            </a:r>
            <a:r>
              <a:rPr lang="nl-BE" dirty="0" err="1"/>
              <a:t>together</a:t>
            </a:r>
            <a:r>
              <a:rPr lang="nl-BE" dirty="0"/>
              <a:t> </a:t>
            </a:r>
            <a:r>
              <a:rPr lang="nl-BE" dirty="0" err="1"/>
              <a:t>with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spinoff</a:t>
            </a:r>
            <a:r>
              <a:rPr lang="nl-BE" dirty="0"/>
              <a:t> 24SEA) we have </a:t>
            </a:r>
            <a:r>
              <a:rPr lang="nl-BE" dirty="0" err="1"/>
              <a:t>instrumented</a:t>
            </a:r>
            <a:r>
              <a:rPr lang="nl-BE" dirty="0"/>
              <a:t> 100+ wind turbines in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world</a:t>
            </a:r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630B3007-981F-13B5-B3F1-6D3B43A39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404" y="445114"/>
            <a:ext cx="2425508" cy="204623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F04E755-E4F2-3E8C-5EF1-C33318120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363" y="2682491"/>
            <a:ext cx="4808637" cy="1684166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891D9F00-E949-F8CF-8F73-9B1415EF0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509" y="4399401"/>
            <a:ext cx="2175403" cy="173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52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56E8A-9DDC-6C15-71A7-FE4CFCF2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8D367072-13A9-C390-7FC1-498C27E71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 err="1"/>
              <a:t>Why</a:t>
            </a:r>
            <a:r>
              <a:rPr lang="nl-BE" dirty="0"/>
              <a:t> we go </a:t>
            </a:r>
            <a:r>
              <a:rPr lang="nl-BE" dirty="0" err="1"/>
              <a:t>for</a:t>
            </a:r>
            <a:r>
              <a:rPr lang="nl-BE" dirty="0"/>
              <a:t> open Source?</a:t>
            </a:r>
          </a:p>
        </p:txBody>
      </p:sp>
      <p:sp>
        <p:nvSpPr>
          <p:cNvPr id="8" name="Ondertitel 7">
            <a:extLst>
              <a:ext uri="{FF2B5EF4-FFF2-40B4-BE49-F238E27FC236}">
                <a16:creationId xmlns:a16="http://schemas.microsoft.com/office/drawing/2014/main" id="{2D939DED-E3B0-E09D-126E-0177626BDB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99554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A450D7-E186-8A56-5D2B-F350517D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0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26/06/2023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0CDFC5B-7A7C-A59D-914D-9450C1E4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8EE3D-8CD1-4C3F-BD1C-C98C9596463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4C23052-18E8-32B0-6B2C-8B2EA34D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Context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AB488810-9B5D-9A49-229F-5F4C686F3B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 err="1"/>
              <a:t>Our</a:t>
            </a:r>
            <a:r>
              <a:rPr lang="nl-BE" dirty="0"/>
              <a:t> </a:t>
            </a:r>
            <a:r>
              <a:rPr lang="nl-BE" dirty="0" err="1"/>
              <a:t>history</a:t>
            </a:r>
            <a:r>
              <a:rPr lang="nl-BE" dirty="0"/>
              <a:t> in code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0EEF356-4F26-7BE9-D116-8F1D6DF27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-Fatigue: Efficiently process, store and </a:t>
            </a: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analyse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load data for fatigue assessments 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A7500BB-93A3-3B26-CC0F-E17ACA625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457326"/>
            <a:ext cx="6050516" cy="4558464"/>
          </a:xfrm>
        </p:spPr>
        <p:txBody>
          <a:bodyPr>
            <a:normAutofit/>
          </a:bodyPr>
          <a:lstStyle/>
          <a:p>
            <a:pPr lvl="1"/>
            <a:endParaRPr lang="nl-BE" dirty="0"/>
          </a:p>
          <a:p>
            <a:pPr lvl="1"/>
            <a:endParaRPr lang="nl-BE" dirty="0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9D57500F-450D-F784-8A59-3BD4FCD1E40E}"/>
              </a:ext>
            </a:extLst>
          </p:cNvPr>
          <p:cNvSpPr/>
          <p:nvPr/>
        </p:nvSpPr>
        <p:spPr>
          <a:xfrm>
            <a:off x="698090" y="1740310"/>
            <a:ext cx="2428568" cy="4125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-2011-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storage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MATLAB - Wikipedia">
            <a:extLst>
              <a:ext uri="{FF2B5EF4-FFF2-40B4-BE49-F238E27FC236}">
                <a16:creationId xmlns:a16="http://schemas.microsoft.com/office/drawing/2014/main" id="{3C5FF84C-91E1-3A71-9282-EF1F4FF76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27" y="5059491"/>
            <a:ext cx="818766" cy="73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D8109872-8408-1ACF-2D81-5E4F3D81F13D}"/>
              </a:ext>
            </a:extLst>
          </p:cNvPr>
          <p:cNvSpPr/>
          <p:nvPr/>
        </p:nvSpPr>
        <p:spPr>
          <a:xfrm>
            <a:off x="3287995" y="1735923"/>
            <a:ext cx="2428568" cy="4125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-2018-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(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)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wind.git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file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Database (Postgres)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6999958-E1E2-A694-1220-6CF4BB97F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490" y="5151853"/>
            <a:ext cx="648364" cy="71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oad Runner cartoons feature Acme products, but not our Acme">
            <a:extLst>
              <a:ext uri="{FF2B5EF4-FFF2-40B4-BE49-F238E27FC236}">
                <a16:creationId xmlns:a16="http://schemas.microsoft.com/office/drawing/2014/main" id="{3B08C738-1A6C-745A-83CC-83118FFDC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900" y="1737110"/>
            <a:ext cx="3034734" cy="1517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hthoek 11">
            <a:extLst>
              <a:ext uri="{FF2B5EF4-FFF2-40B4-BE49-F238E27FC236}">
                <a16:creationId xmlns:a16="http://schemas.microsoft.com/office/drawing/2014/main" id="{D30CC7D9-4167-0687-F023-09F2283DAEB1}"/>
              </a:ext>
            </a:extLst>
          </p:cNvPr>
          <p:cNvSpPr/>
          <p:nvPr/>
        </p:nvSpPr>
        <p:spPr>
          <a:xfrm>
            <a:off x="5877901" y="3424341"/>
            <a:ext cx="3034734" cy="24436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Lessons</a:t>
            </a:r>
            <a:r>
              <a:rPr kumimoji="0" lang="nl-B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</a:t>
            </a:r>
            <a:r>
              <a:rPr kumimoji="0" lang="nl-B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learned</a:t>
            </a:r>
            <a:r>
              <a:rPr kumimoji="0" lang="nl-B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Strong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integration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</a:t>
            </a: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To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share code is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to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share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everything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   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Hard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to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maintain</a:t>
            </a: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Hard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to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test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properly</a:t>
            </a:r>
            <a:endParaRPr kumimoji="0" lang="nl-B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No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modularity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, e.g.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to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cope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with</a:t>
            </a:r>
            <a:r>
              <a:rPr kumimoji="0" lang="nl-B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different project scopes</a:t>
            </a:r>
          </a:p>
          <a:p>
            <a:pPr marL="285750" marR="0" lvl="0" indent="-285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4545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hoek 16">
            <a:extLst>
              <a:ext uri="{FF2B5EF4-FFF2-40B4-BE49-F238E27FC236}">
                <a16:creationId xmlns:a16="http://schemas.microsoft.com/office/drawing/2014/main" id="{B1A70C01-6355-F1B1-4CA5-163840513AE8}"/>
              </a:ext>
            </a:extLst>
          </p:cNvPr>
          <p:cNvSpPr/>
          <p:nvPr/>
        </p:nvSpPr>
        <p:spPr>
          <a:xfrm>
            <a:off x="5857625" y="1735921"/>
            <a:ext cx="2818906" cy="41252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-2020-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</a:t>
            </a:r>
            <a:r>
              <a:rPr kumimoji="0" lang="nl-BE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: a Framework</a:t>
            </a:r>
            <a:endParaRPr kumimoji="0" lang="nl-BE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220D4D4A-EFEA-C1F7-2BC6-9D2B0AFE0C5F}"/>
              </a:ext>
            </a:extLst>
          </p:cNvPr>
          <p:cNvSpPr/>
          <p:nvPr/>
        </p:nvSpPr>
        <p:spPr>
          <a:xfrm>
            <a:off x="5987845" y="2281084"/>
            <a:ext cx="2688686" cy="3580068"/>
          </a:xfrm>
          <a:prstGeom prst="rect">
            <a:avLst/>
          </a:prstGeom>
          <a:solidFill>
            <a:srgbClr val="003F69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300173CF-D9E1-E0A8-70DE-E1BDBB504AD7}"/>
              </a:ext>
            </a:extLst>
          </p:cNvPr>
          <p:cNvSpPr/>
          <p:nvPr/>
        </p:nvSpPr>
        <p:spPr>
          <a:xfrm>
            <a:off x="6117743" y="2900516"/>
            <a:ext cx="2428568" cy="2894842"/>
          </a:xfrm>
          <a:prstGeom prst="rect">
            <a:avLst/>
          </a:prstGeom>
          <a:solidFill>
            <a:srgbClr val="003F69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MPE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6FFC3197-C421-96B9-6165-722B0FD52B19}"/>
              </a:ext>
            </a:extLst>
          </p:cNvPr>
          <p:cNvSpPr/>
          <p:nvPr/>
        </p:nvSpPr>
        <p:spPr>
          <a:xfrm>
            <a:off x="6204154" y="3429000"/>
            <a:ext cx="2219211" cy="2254044"/>
          </a:xfrm>
          <a:prstGeom prst="rect">
            <a:avLst/>
          </a:prstGeom>
          <a:solidFill>
            <a:srgbClr val="003F69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DATABASE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Database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A450D7-E186-8A56-5D2B-F350517D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0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26/06/2023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0CDFC5B-7A7C-A59D-914D-9450C1E4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8EE3D-8CD1-4C3F-BD1C-C98C9596463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4C23052-18E8-32B0-6B2C-8B2EA34D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Context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AB488810-9B5D-9A49-229F-5F4C686F3B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 err="1"/>
              <a:t>Our</a:t>
            </a:r>
            <a:r>
              <a:rPr lang="nl-BE" dirty="0"/>
              <a:t> </a:t>
            </a:r>
            <a:r>
              <a:rPr lang="nl-BE" dirty="0" err="1"/>
              <a:t>history</a:t>
            </a:r>
            <a:r>
              <a:rPr lang="nl-BE" dirty="0"/>
              <a:t> in code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0EEF356-4F26-7BE9-D116-8F1D6DF27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-Fatigue: Efficiently process, store and </a:t>
            </a: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analyse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load data for fatigue assessments 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A7500BB-93A3-3B26-CC0F-E17ACA625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457326"/>
            <a:ext cx="6050516" cy="4558464"/>
          </a:xfrm>
        </p:spPr>
        <p:txBody>
          <a:bodyPr>
            <a:normAutofit/>
          </a:bodyPr>
          <a:lstStyle/>
          <a:p>
            <a:pPr lvl="1"/>
            <a:endParaRPr lang="nl-BE" dirty="0"/>
          </a:p>
          <a:p>
            <a:pPr lvl="1"/>
            <a:endParaRPr lang="nl-BE" dirty="0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9D57500F-450D-F784-8A59-3BD4FCD1E40E}"/>
              </a:ext>
            </a:extLst>
          </p:cNvPr>
          <p:cNvSpPr/>
          <p:nvPr/>
        </p:nvSpPr>
        <p:spPr>
          <a:xfrm>
            <a:off x="698090" y="1740310"/>
            <a:ext cx="2428568" cy="4125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-2011-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storage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MATLAB - Wikipedia">
            <a:extLst>
              <a:ext uri="{FF2B5EF4-FFF2-40B4-BE49-F238E27FC236}">
                <a16:creationId xmlns:a16="http://schemas.microsoft.com/office/drawing/2014/main" id="{3C5FF84C-91E1-3A71-9282-EF1F4FF76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27" y="5059491"/>
            <a:ext cx="818766" cy="73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D8109872-8408-1ACF-2D81-5E4F3D81F13D}"/>
              </a:ext>
            </a:extLst>
          </p:cNvPr>
          <p:cNvSpPr/>
          <p:nvPr/>
        </p:nvSpPr>
        <p:spPr>
          <a:xfrm>
            <a:off x="3287995" y="1735923"/>
            <a:ext cx="2428568" cy="4125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-2018-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(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)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wind.git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file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Database (Postgres)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6999958-E1E2-A694-1220-6CF4BB97F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490" y="5151853"/>
            <a:ext cx="648364" cy="71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5B233B66-91D8-8A74-638D-4D0806A96570}"/>
              </a:ext>
            </a:extLst>
          </p:cNvPr>
          <p:cNvSpPr/>
          <p:nvPr/>
        </p:nvSpPr>
        <p:spPr>
          <a:xfrm>
            <a:off x="6351638" y="4064398"/>
            <a:ext cx="1910389" cy="1534310"/>
          </a:xfrm>
          <a:prstGeom prst="rect">
            <a:avLst/>
          </a:prstGeom>
          <a:solidFill>
            <a:srgbClr val="003F69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</a:t>
            </a:r>
            <a:r>
              <a:rPr kumimoji="0" lang="nl-BE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file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18" name="Rechthoek 17">
            <a:extLst>
              <a:ext uri="{FF2B5EF4-FFF2-40B4-BE49-F238E27FC236}">
                <a16:creationId xmlns:a16="http://schemas.microsoft.com/office/drawing/2014/main" id="{48007E1D-5FF9-3D81-1852-8F77CAEF0557}"/>
              </a:ext>
            </a:extLst>
          </p:cNvPr>
          <p:cNvSpPr/>
          <p:nvPr/>
        </p:nvSpPr>
        <p:spPr>
          <a:xfrm>
            <a:off x="8817593" y="1733463"/>
            <a:ext cx="3034734" cy="406189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Lessons</a:t>
            </a:r>
            <a:r>
              <a:rPr kumimoji="0" lang="nl-BE" sz="18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</a:t>
            </a:r>
            <a:r>
              <a:rPr kumimoji="0" lang="nl-BE" sz="1800" b="1" i="0" u="sng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learned</a:t>
            </a:r>
            <a:r>
              <a:rPr kumimoji="0" lang="nl-BE" sz="18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:</a:t>
            </a:r>
            <a:endParaRPr kumimoji="0" lang="nl-BE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Modularity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achieved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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Easier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to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maintain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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Tier 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based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sharing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 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nl-BE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Open access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difficult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especially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for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top tier packages,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due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to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internal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depencies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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nl-BE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  <a:sym typeface="Wingdings" panose="05000000000000000000" pitchFamily="2" charset="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BUT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internal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dependencies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allow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for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very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efficient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workflows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(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monolithic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architecture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)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nl-BE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0341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15" grpId="0" animBg="1"/>
      <p:bldP spid="14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hoek 19">
            <a:extLst>
              <a:ext uri="{FF2B5EF4-FFF2-40B4-BE49-F238E27FC236}">
                <a16:creationId xmlns:a16="http://schemas.microsoft.com/office/drawing/2014/main" id="{0702AF57-B87B-5890-85C3-2D3DD67E6510}"/>
              </a:ext>
            </a:extLst>
          </p:cNvPr>
          <p:cNvSpPr/>
          <p:nvPr/>
        </p:nvSpPr>
        <p:spPr>
          <a:xfrm>
            <a:off x="5857625" y="1735921"/>
            <a:ext cx="2818906" cy="41252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-2020-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</a:t>
            </a:r>
            <a:r>
              <a:rPr kumimoji="0" lang="nl-BE" sz="18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: a Framework</a:t>
            </a:r>
            <a:endParaRPr kumimoji="0" lang="nl-BE" sz="1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70F3FA12-F0C8-00B0-7D5F-315F25B0F9E5}"/>
              </a:ext>
            </a:extLst>
          </p:cNvPr>
          <p:cNvSpPr/>
          <p:nvPr/>
        </p:nvSpPr>
        <p:spPr>
          <a:xfrm>
            <a:off x="9063465" y="2277428"/>
            <a:ext cx="2667695" cy="698090"/>
          </a:xfrm>
          <a:prstGeom prst="rect">
            <a:avLst/>
          </a:prstGeom>
          <a:solidFill>
            <a:srgbClr val="1A537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pyFatigue</a:t>
            </a:r>
            <a:endParaRPr kumimoji="0" lang="nl-BE" sz="1800" b="1" i="0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16" name="Rechthoek 15">
            <a:extLst>
              <a:ext uri="{FF2B5EF4-FFF2-40B4-BE49-F238E27FC236}">
                <a16:creationId xmlns:a16="http://schemas.microsoft.com/office/drawing/2014/main" id="{220D4D4A-EFEA-C1F7-2BC6-9D2B0AFE0C5F}"/>
              </a:ext>
            </a:extLst>
          </p:cNvPr>
          <p:cNvSpPr/>
          <p:nvPr/>
        </p:nvSpPr>
        <p:spPr>
          <a:xfrm>
            <a:off x="5987845" y="2281084"/>
            <a:ext cx="2688686" cy="3580068"/>
          </a:xfrm>
          <a:prstGeom prst="rect">
            <a:avLst/>
          </a:prstGeom>
          <a:solidFill>
            <a:srgbClr val="003F69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15" name="Rechthoek 14">
            <a:extLst>
              <a:ext uri="{FF2B5EF4-FFF2-40B4-BE49-F238E27FC236}">
                <a16:creationId xmlns:a16="http://schemas.microsoft.com/office/drawing/2014/main" id="{300173CF-D9E1-E0A8-70DE-E1BDBB504AD7}"/>
              </a:ext>
            </a:extLst>
          </p:cNvPr>
          <p:cNvSpPr/>
          <p:nvPr/>
        </p:nvSpPr>
        <p:spPr>
          <a:xfrm>
            <a:off x="6117743" y="2900516"/>
            <a:ext cx="2428568" cy="2894842"/>
          </a:xfrm>
          <a:prstGeom prst="rect">
            <a:avLst/>
          </a:prstGeom>
          <a:solidFill>
            <a:srgbClr val="003F69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MPE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</p:txBody>
      </p:sp>
      <p:sp>
        <p:nvSpPr>
          <p:cNvPr id="14" name="Rechthoek 13">
            <a:extLst>
              <a:ext uri="{FF2B5EF4-FFF2-40B4-BE49-F238E27FC236}">
                <a16:creationId xmlns:a16="http://schemas.microsoft.com/office/drawing/2014/main" id="{6FFC3197-C421-96B9-6165-722B0FD52B19}"/>
              </a:ext>
            </a:extLst>
          </p:cNvPr>
          <p:cNvSpPr/>
          <p:nvPr/>
        </p:nvSpPr>
        <p:spPr>
          <a:xfrm>
            <a:off x="6204154" y="3429000"/>
            <a:ext cx="2219211" cy="2254044"/>
          </a:xfrm>
          <a:prstGeom prst="rect">
            <a:avLst/>
          </a:prstGeom>
          <a:solidFill>
            <a:srgbClr val="003F69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DATABASE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Database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CA450D7-E186-8A56-5D2B-F350517D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900" b="0" i="0" u="none" strike="noStrike" kern="1200" cap="none" spc="0" normalizeH="0" baseline="0" noProof="0" dirty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26/06/2023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0CDFC5B-7A7C-A59D-914D-9450C1E4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8EE3D-8CD1-4C3F-BD1C-C98C9596463C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335B74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335B74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84C23052-18E8-32B0-6B2C-8B2EA34D2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Context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AB488810-9B5D-9A49-229F-5F4C686F3B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BE" dirty="0" err="1"/>
              <a:t>Our</a:t>
            </a:r>
            <a:r>
              <a:rPr lang="nl-BE" dirty="0"/>
              <a:t> </a:t>
            </a:r>
            <a:r>
              <a:rPr lang="nl-BE" dirty="0" err="1"/>
              <a:t>history</a:t>
            </a:r>
            <a:r>
              <a:rPr lang="nl-BE" dirty="0"/>
              <a:t> in code</a:t>
            </a:r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0EEF356-4F26-7BE9-D116-8F1D6DF270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-Fatigue: Efficiently process, store and </a:t>
            </a:r>
            <a:r>
              <a:rPr kumimoji="0" lang="en-US" sz="900" b="0" i="0" u="none" strike="noStrike" kern="1200" cap="all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analyse</a:t>
            </a:r>
            <a:r>
              <a:rPr kumimoji="0" lang="en-US" sz="9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load data for fatigue assessments 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A7500BB-93A3-3B26-CC0F-E17ACA625F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1457326"/>
            <a:ext cx="6050516" cy="4558464"/>
          </a:xfrm>
        </p:spPr>
        <p:txBody>
          <a:bodyPr>
            <a:normAutofit/>
          </a:bodyPr>
          <a:lstStyle/>
          <a:p>
            <a:pPr lvl="1"/>
            <a:endParaRPr lang="nl-BE" dirty="0"/>
          </a:p>
          <a:p>
            <a:pPr lvl="1"/>
            <a:endParaRPr lang="nl-BE" dirty="0"/>
          </a:p>
        </p:txBody>
      </p:sp>
      <p:sp>
        <p:nvSpPr>
          <p:cNvPr id="2" name="Rechthoek 1">
            <a:extLst>
              <a:ext uri="{FF2B5EF4-FFF2-40B4-BE49-F238E27FC236}">
                <a16:creationId xmlns:a16="http://schemas.microsoft.com/office/drawing/2014/main" id="{9D57500F-450D-F784-8A59-3BD4FCD1E40E}"/>
              </a:ext>
            </a:extLst>
          </p:cNvPr>
          <p:cNvSpPr/>
          <p:nvPr/>
        </p:nvSpPr>
        <p:spPr>
          <a:xfrm>
            <a:off x="698090" y="1740310"/>
            <a:ext cx="2428568" cy="4125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-2011-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storage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6" name="Picture 2" descr="MATLAB - Wikipedia">
            <a:extLst>
              <a:ext uri="{FF2B5EF4-FFF2-40B4-BE49-F238E27FC236}">
                <a16:creationId xmlns:a16="http://schemas.microsoft.com/office/drawing/2014/main" id="{3C5FF84C-91E1-3A71-9282-EF1F4FF76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27" y="5059491"/>
            <a:ext cx="818766" cy="73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D8109872-8408-1ACF-2D81-5E4F3D81F13D}"/>
              </a:ext>
            </a:extLst>
          </p:cNvPr>
          <p:cNvSpPr/>
          <p:nvPr/>
        </p:nvSpPr>
        <p:spPr>
          <a:xfrm>
            <a:off x="3287995" y="1735923"/>
            <a:ext cx="2428568" cy="41252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-2018-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(</a:t>
            </a: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py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)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DYNA</a:t>
            </a: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wind.git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file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Database (Postgres)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Automated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OMA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…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6999958-E1E2-A694-1220-6CF4BB97F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490" y="5151853"/>
            <a:ext cx="648364" cy="71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5B233B66-91D8-8A74-638D-4D0806A96570}"/>
              </a:ext>
            </a:extLst>
          </p:cNvPr>
          <p:cNvSpPr/>
          <p:nvPr/>
        </p:nvSpPr>
        <p:spPr>
          <a:xfrm>
            <a:off x="6351638" y="4064398"/>
            <a:ext cx="1910389" cy="1534310"/>
          </a:xfrm>
          <a:prstGeom prst="rect">
            <a:avLst/>
          </a:prstGeom>
          <a:solidFill>
            <a:srgbClr val="003F69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dw</a:t>
            </a:r>
            <a:r>
              <a:rPr kumimoji="0" lang="nl-BE" sz="1800" b="1" i="1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_</a:t>
            </a:r>
            <a:r>
              <a:rPr kumimoji="0" lang="nl-BE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6FB33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endParaRPr kumimoji="0" lang="nl-BE" sz="1800" b="0" i="1" u="none" strike="noStrike" kern="1200" cap="none" spc="0" normalizeH="0" baseline="0" noProof="0" dirty="0">
              <a:ln>
                <a:noFill/>
              </a:ln>
              <a:solidFill>
                <a:srgbClr val="F6FB33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Signal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Configuration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file handling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Data handling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412D5F0A-9D2F-6FB7-D80F-91F14F047F76}"/>
              </a:ext>
            </a:extLst>
          </p:cNvPr>
          <p:cNvSpPr/>
          <p:nvPr/>
        </p:nvSpPr>
        <p:spPr>
          <a:xfrm>
            <a:off x="6052794" y="2626473"/>
            <a:ext cx="2428568" cy="189111"/>
          </a:xfrm>
          <a:prstGeom prst="rect">
            <a:avLst/>
          </a:prstGeom>
          <a:solidFill>
            <a:srgbClr val="1A53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BE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Fatigue</a:t>
            </a:r>
            <a:r>
              <a:rPr kumimoji="0" lang="nl-BE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 processing</a:t>
            </a:r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EE700E0B-6FD1-097B-94A3-CAA2AD902A28}"/>
              </a:ext>
            </a:extLst>
          </p:cNvPr>
          <p:cNvSpPr/>
          <p:nvPr/>
        </p:nvSpPr>
        <p:spPr>
          <a:xfrm>
            <a:off x="9063465" y="3195483"/>
            <a:ext cx="2667695" cy="25998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</a:rPr>
              <a:t>Lessons learned:</a:t>
            </a:r>
            <a:endParaRPr kumimoji="0" lang="en-US" sz="16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2020104020203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No more internal dependencies 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Much Easier to maintain   :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Separation of concerns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Open access possible 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Book" panose="020B0502020104020203"/>
                <a:ea typeface="+mn-ea"/>
                <a:cs typeface="+mn-cs"/>
                <a:sym typeface="Wingdings" panose="05000000000000000000" pitchFamily="2" charset="2"/>
              </a:rPr>
              <a:t>Monolith’s strengths maintained  </a:t>
            </a:r>
          </a:p>
        </p:txBody>
      </p:sp>
      <p:pic>
        <p:nvPicPr>
          <p:cNvPr id="2050" name="Picture 2" descr="Chain icon symbol of hyperlink outline modern Vector Image">
            <a:extLst>
              <a:ext uri="{FF2B5EF4-FFF2-40B4-BE49-F238E27FC236}">
                <a16:creationId xmlns:a16="http://schemas.microsoft.com/office/drawing/2014/main" id="{E4A268EE-5B44-A52B-167A-58836AEFDF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60" t="12194" b="17920"/>
          <a:stretch/>
        </p:blipFill>
        <p:spPr bwMode="auto">
          <a:xfrm rot="2700000">
            <a:off x="8477946" y="2264123"/>
            <a:ext cx="876634" cy="761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970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A519286-4CBB-D4DB-E200-2690C477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fr-BE"/>
              <a:t>01/06/2022</a:t>
            </a:r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0F2B1D49-B816-D20C-9A0B-99C6D3508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Novelty detection in the SHM data of an OWT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E55EC59-B9EF-6038-8BA3-EC4C73677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7B9C04A1-2A8A-1AB5-1FD3-CFD5FE5B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3814"/>
            <a:ext cx="12192000" cy="490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0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C61D1273-977A-6486-18BF-2D49F73A2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0606"/>
            <a:ext cx="12192000" cy="6362278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AE32E542-2D34-F9D2-CEA3-882AF4619AF6}"/>
              </a:ext>
            </a:extLst>
          </p:cNvPr>
          <p:cNvSpPr txBox="1"/>
          <p:nvPr/>
        </p:nvSpPr>
        <p:spPr>
          <a:xfrm>
            <a:off x="191243" y="181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dirty="0">
                <a:solidFill>
                  <a:schemeClr val="accent2"/>
                </a:solidFill>
              </a:rPr>
              <a:t>https://github.com/OWI-Lab</a:t>
            </a:r>
          </a:p>
        </p:txBody>
      </p:sp>
    </p:spTree>
    <p:extLst>
      <p:ext uri="{BB962C8B-B14F-4D97-AF65-F5344CB8AC3E}">
        <p14:creationId xmlns:p14="http://schemas.microsoft.com/office/powerpoint/2010/main" val="98512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BB12-56DE-185E-BD2B-E129DB422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F276B03A-9E70-5F32-E074-8A4F153D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Who</a:t>
            </a:r>
            <a:r>
              <a:rPr lang="nl-BE" dirty="0"/>
              <a:t> are </a:t>
            </a:r>
            <a:r>
              <a:rPr lang="nl-BE" dirty="0" err="1"/>
              <a:t>you</a:t>
            </a:r>
            <a:r>
              <a:rPr lang="nl-BE" dirty="0"/>
              <a:t>?</a:t>
            </a:r>
          </a:p>
        </p:txBody>
      </p:sp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9A0EAA00-6E88-4513-02CA-CCA1A9EC7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 </a:t>
            </a:r>
            <a:r>
              <a:rPr lang="nl-BE" dirty="0" err="1"/>
              <a:t>quick</a:t>
            </a:r>
            <a:r>
              <a:rPr lang="nl-BE" dirty="0"/>
              <a:t> </a:t>
            </a:r>
            <a:r>
              <a:rPr lang="nl-BE" dirty="0" err="1"/>
              <a:t>roundtable</a:t>
            </a:r>
            <a:endParaRPr lang="nl-BE" dirty="0"/>
          </a:p>
          <a:p>
            <a:pPr lvl="1"/>
            <a:r>
              <a:rPr lang="nl-BE" dirty="0"/>
              <a:t> </a:t>
            </a:r>
            <a:r>
              <a:rPr lang="nl-BE" dirty="0" err="1"/>
              <a:t>Who</a:t>
            </a:r>
            <a:r>
              <a:rPr lang="nl-BE" dirty="0"/>
              <a:t> are </a:t>
            </a:r>
            <a:r>
              <a:rPr lang="nl-BE" dirty="0" err="1"/>
              <a:t>you</a:t>
            </a:r>
            <a:r>
              <a:rPr lang="nl-BE" dirty="0"/>
              <a:t>? </a:t>
            </a:r>
          </a:p>
          <a:p>
            <a:pPr lvl="1"/>
            <a:r>
              <a:rPr lang="nl-BE" dirty="0" err="1"/>
              <a:t>What</a:t>
            </a:r>
            <a:r>
              <a:rPr lang="nl-BE" dirty="0"/>
              <a:t> is </a:t>
            </a:r>
            <a:r>
              <a:rPr lang="nl-BE" dirty="0" err="1"/>
              <a:t>your</a:t>
            </a:r>
            <a:r>
              <a:rPr lang="nl-BE" dirty="0"/>
              <a:t> professional </a:t>
            </a:r>
            <a:r>
              <a:rPr lang="nl-BE" dirty="0" err="1"/>
              <a:t>situation</a:t>
            </a:r>
            <a:r>
              <a:rPr lang="nl-BE" dirty="0"/>
              <a:t>?</a:t>
            </a:r>
          </a:p>
          <a:p>
            <a:pPr lvl="1"/>
            <a:r>
              <a:rPr lang="nl-BE" dirty="0" err="1"/>
              <a:t>Why</a:t>
            </a:r>
            <a:r>
              <a:rPr lang="nl-BE" dirty="0"/>
              <a:t> </a:t>
            </a:r>
            <a:r>
              <a:rPr lang="nl-BE" dirty="0" err="1"/>
              <a:t>did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want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participate</a:t>
            </a:r>
            <a:r>
              <a:rPr lang="nl-BE" dirty="0"/>
              <a:t> in </a:t>
            </a:r>
            <a:r>
              <a:rPr lang="nl-BE" dirty="0" err="1"/>
              <a:t>this</a:t>
            </a:r>
            <a:r>
              <a:rPr lang="nl-BE" dirty="0"/>
              <a:t> workshop?</a:t>
            </a:r>
          </a:p>
        </p:txBody>
      </p:sp>
    </p:spTree>
    <p:extLst>
      <p:ext uri="{BB962C8B-B14F-4D97-AF65-F5344CB8AC3E}">
        <p14:creationId xmlns:p14="http://schemas.microsoft.com/office/powerpoint/2010/main" val="864122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D9E755-CA6E-DB25-5B85-A6A4A008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Agenda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1B495837-B3E8-7540-F9BB-6F22A3D27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904" y="1690688"/>
            <a:ext cx="4648849" cy="4020111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1AD6A4F1-A92D-0BB3-F918-1894EA2D5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101" y="1509688"/>
            <a:ext cx="4991797" cy="4382112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98D67FA4-3C01-5C88-F830-4F0F9ABEF716}"/>
              </a:ext>
            </a:extLst>
          </p:cNvPr>
          <p:cNvSpPr txBox="1"/>
          <p:nvPr/>
        </p:nvSpPr>
        <p:spPr>
          <a:xfrm>
            <a:off x="4562168" y="3598606"/>
            <a:ext cx="1268361" cy="6463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nl-BE" sz="1200" dirty="0"/>
              <a:t>📸 Group picture over lunch!</a:t>
            </a:r>
          </a:p>
        </p:txBody>
      </p:sp>
      <p:sp>
        <p:nvSpPr>
          <p:cNvPr id="9" name="Gedachtewolkje: wolk 8">
            <a:extLst>
              <a:ext uri="{FF2B5EF4-FFF2-40B4-BE49-F238E27FC236}">
                <a16:creationId xmlns:a16="http://schemas.microsoft.com/office/drawing/2014/main" id="{7B7EE9B3-9CB4-011F-F475-6012379797D8}"/>
              </a:ext>
            </a:extLst>
          </p:cNvPr>
          <p:cNvSpPr/>
          <p:nvPr/>
        </p:nvSpPr>
        <p:spPr>
          <a:xfrm>
            <a:off x="9000841" y="-34437"/>
            <a:ext cx="3170531" cy="1725125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BE" sz="1200" dirty="0"/>
              <a:t>Too </a:t>
            </a:r>
            <a:r>
              <a:rPr lang="nl-BE" sz="1200" dirty="0" err="1"/>
              <a:t>much</a:t>
            </a:r>
            <a:r>
              <a:rPr lang="nl-BE" sz="1200" dirty="0"/>
              <a:t>? We </a:t>
            </a:r>
            <a:r>
              <a:rPr lang="nl-BE" sz="1200" dirty="0" err="1"/>
              <a:t>know</a:t>
            </a:r>
            <a:r>
              <a:rPr lang="nl-BE" sz="1200" dirty="0"/>
              <a:t> </a:t>
            </a:r>
            <a:r>
              <a:rPr lang="nl-BE" sz="1200" dirty="0" err="1"/>
              <a:t>it</a:t>
            </a:r>
            <a:r>
              <a:rPr lang="nl-BE" sz="1200" dirty="0"/>
              <a:t> is a lot, </a:t>
            </a:r>
            <a:r>
              <a:rPr lang="nl-BE" sz="1200" dirty="0" err="1"/>
              <a:t>all</a:t>
            </a:r>
            <a:r>
              <a:rPr lang="nl-BE" sz="1200" dirty="0"/>
              <a:t> slides </a:t>
            </a:r>
            <a:r>
              <a:rPr lang="nl-BE" sz="1200" dirty="0" err="1"/>
              <a:t>and</a:t>
            </a:r>
            <a:r>
              <a:rPr lang="nl-BE" sz="1200" dirty="0"/>
              <a:t> notebooks are </a:t>
            </a:r>
            <a:r>
              <a:rPr lang="nl-BE" sz="1200" dirty="0" err="1"/>
              <a:t>available</a:t>
            </a:r>
            <a:r>
              <a:rPr lang="nl-BE" sz="1200" dirty="0"/>
              <a:t> online </a:t>
            </a:r>
            <a:r>
              <a:rPr lang="nl-BE" sz="1200" dirty="0" err="1"/>
              <a:t>after</a:t>
            </a:r>
            <a:r>
              <a:rPr lang="nl-BE" sz="1200" dirty="0"/>
              <a:t> </a:t>
            </a:r>
            <a:r>
              <a:rPr lang="nl-BE" sz="1200" dirty="0" err="1"/>
              <a:t>the</a:t>
            </a:r>
            <a:r>
              <a:rPr lang="nl-BE" sz="1200" dirty="0"/>
              <a:t> workshop!</a:t>
            </a:r>
          </a:p>
        </p:txBody>
      </p:sp>
    </p:spTree>
    <p:extLst>
      <p:ext uri="{BB962C8B-B14F-4D97-AF65-F5344CB8AC3E}">
        <p14:creationId xmlns:p14="http://schemas.microsoft.com/office/powerpoint/2010/main" val="362607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D293F-1D7C-63EE-D742-D321A4CCA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Day 1: Idea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076446B-3FC1-DFD5-A4CE-C8632BF1F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97594" cy="4351338"/>
          </a:xfrm>
        </p:spPr>
        <p:txBody>
          <a:bodyPr>
            <a:normAutofit fontScale="85000" lnSpcReduction="10000"/>
          </a:bodyPr>
          <a:lstStyle/>
          <a:p>
            <a:r>
              <a:rPr lang="nl-BE" sz="2000" dirty="0"/>
              <a:t>We </a:t>
            </a:r>
            <a:r>
              <a:rPr lang="nl-BE" sz="2000" dirty="0" err="1"/>
              <a:t>cater</a:t>
            </a:r>
            <a:r>
              <a:rPr lang="nl-BE" sz="2000" dirty="0"/>
              <a:t> </a:t>
            </a:r>
            <a:r>
              <a:rPr lang="nl-BE" sz="2000" dirty="0" err="1"/>
              <a:t>to</a:t>
            </a:r>
            <a:r>
              <a:rPr lang="nl-BE" sz="2000" dirty="0"/>
              <a:t> </a:t>
            </a:r>
            <a:r>
              <a:rPr lang="nl-BE" sz="2000" dirty="0" err="1"/>
              <a:t>both</a:t>
            </a:r>
            <a:r>
              <a:rPr lang="nl-BE" sz="2000" dirty="0"/>
              <a:t> starters </a:t>
            </a:r>
            <a:r>
              <a:rPr lang="nl-BE" sz="2000" dirty="0" err="1"/>
              <a:t>and</a:t>
            </a:r>
            <a:r>
              <a:rPr lang="nl-BE" sz="2000" dirty="0"/>
              <a:t> more </a:t>
            </a:r>
            <a:r>
              <a:rPr lang="nl-BE" sz="2000" dirty="0" err="1"/>
              <a:t>experienced</a:t>
            </a:r>
            <a:r>
              <a:rPr lang="nl-BE" sz="2000" dirty="0"/>
              <a:t> </a:t>
            </a:r>
            <a:r>
              <a:rPr lang="nl-BE" sz="2000" dirty="0" err="1"/>
              <a:t>developers</a:t>
            </a:r>
            <a:r>
              <a:rPr lang="nl-BE" sz="2000" dirty="0"/>
              <a:t>;</a:t>
            </a:r>
          </a:p>
          <a:p>
            <a:r>
              <a:rPr lang="nl-BE" sz="2000" dirty="0"/>
              <a:t>In </a:t>
            </a:r>
            <a:r>
              <a:rPr lang="nl-BE" sz="2000" dirty="0" err="1"/>
              <a:t>the</a:t>
            </a:r>
            <a:r>
              <a:rPr lang="nl-BE" sz="2000" dirty="0"/>
              <a:t> </a:t>
            </a:r>
            <a:r>
              <a:rPr lang="nl-BE" sz="2000" dirty="0" err="1"/>
              <a:t>morning</a:t>
            </a:r>
            <a:r>
              <a:rPr lang="nl-BE" sz="2000" dirty="0"/>
              <a:t> we have a small </a:t>
            </a:r>
            <a:r>
              <a:rPr lang="nl-BE" sz="2000" dirty="0" err="1"/>
              <a:t>introduction</a:t>
            </a:r>
            <a:r>
              <a:rPr lang="nl-BE" sz="2000" dirty="0"/>
              <a:t> </a:t>
            </a:r>
            <a:r>
              <a:rPr lang="nl-BE" sz="2000" dirty="0" err="1"/>
              <a:t>session</a:t>
            </a:r>
            <a:r>
              <a:rPr lang="nl-BE" sz="2000" dirty="0"/>
              <a:t>, </a:t>
            </a:r>
            <a:r>
              <a:rPr lang="nl-BE" sz="2000" dirty="0" err="1"/>
              <a:t>to</a:t>
            </a:r>
            <a:r>
              <a:rPr lang="nl-BE" sz="2000" dirty="0"/>
              <a:t> get </a:t>
            </a:r>
            <a:r>
              <a:rPr lang="nl-BE" sz="2000" dirty="0" err="1"/>
              <a:t>everyone</a:t>
            </a:r>
            <a:r>
              <a:rPr lang="nl-BE" sz="2000" dirty="0"/>
              <a:t> </a:t>
            </a:r>
            <a:r>
              <a:rPr lang="nl-BE" sz="2000" dirty="0" err="1"/>
              <a:t>started</a:t>
            </a:r>
            <a:endParaRPr lang="nl-BE" sz="2000" dirty="0"/>
          </a:p>
          <a:p>
            <a:pPr marL="0" indent="0">
              <a:buNone/>
            </a:pPr>
            <a:endParaRPr lang="nl-BE" sz="2000" dirty="0"/>
          </a:p>
          <a:p>
            <a:pPr lvl="1"/>
            <a:r>
              <a:rPr lang="nl-BE" sz="1600" b="1" dirty="0" err="1"/>
              <a:t>Trivial</a:t>
            </a:r>
            <a:r>
              <a:rPr lang="nl-BE" sz="1600" b="1" dirty="0"/>
              <a:t>?</a:t>
            </a:r>
            <a:r>
              <a:rPr lang="nl-BE" sz="1600" dirty="0"/>
              <a:t> </a:t>
            </a:r>
            <a:r>
              <a:rPr lang="nl-BE" sz="1600" dirty="0" err="1"/>
              <a:t>Then</a:t>
            </a:r>
            <a:r>
              <a:rPr lang="nl-BE" sz="1600" dirty="0"/>
              <a:t> </a:t>
            </a:r>
            <a:r>
              <a:rPr lang="nl-BE" sz="1600" dirty="0" err="1"/>
              <a:t>you</a:t>
            </a:r>
            <a:r>
              <a:rPr lang="nl-BE" sz="1600" dirty="0"/>
              <a:t> are </a:t>
            </a:r>
            <a:r>
              <a:rPr lang="nl-BE" sz="1600" dirty="0" err="1"/>
              <a:t>an</a:t>
            </a:r>
            <a:r>
              <a:rPr lang="nl-BE" sz="1600" dirty="0"/>
              <a:t> </a:t>
            </a:r>
            <a:r>
              <a:rPr lang="nl-BE" sz="1600" dirty="0" err="1"/>
              <a:t>experienced</a:t>
            </a:r>
            <a:r>
              <a:rPr lang="nl-BE" sz="1600" dirty="0"/>
              <a:t> user, </a:t>
            </a:r>
            <a:r>
              <a:rPr lang="nl-BE" sz="1600" dirty="0" err="1"/>
              <a:t>consider</a:t>
            </a:r>
            <a:r>
              <a:rPr lang="nl-BE" sz="1600" dirty="0"/>
              <a:t> </a:t>
            </a:r>
            <a:r>
              <a:rPr lang="nl-BE" sz="1600" dirty="0" err="1"/>
              <a:t>it</a:t>
            </a:r>
            <a:r>
              <a:rPr lang="nl-BE" sz="1600" dirty="0"/>
              <a:t> a warm-up.  </a:t>
            </a:r>
            <a:r>
              <a:rPr lang="nl-BE" sz="1600" dirty="0" err="1"/>
              <a:t>You</a:t>
            </a:r>
            <a:r>
              <a:rPr lang="nl-BE" sz="1600" dirty="0"/>
              <a:t> </a:t>
            </a:r>
            <a:r>
              <a:rPr lang="nl-BE" sz="1600" dirty="0" err="1"/>
              <a:t>can</a:t>
            </a:r>
            <a:r>
              <a:rPr lang="nl-BE" sz="1600" dirty="0"/>
              <a:t> </a:t>
            </a:r>
            <a:r>
              <a:rPr lang="nl-BE" sz="1600" dirty="0" err="1"/>
              <a:t>decide</a:t>
            </a:r>
            <a:r>
              <a:rPr lang="nl-BE" sz="1600" dirty="0"/>
              <a:t> </a:t>
            </a:r>
            <a:r>
              <a:rPr lang="nl-BE" sz="1600" dirty="0" err="1"/>
              <a:t>for</a:t>
            </a:r>
            <a:r>
              <a:rPr lang="nl-BE" sz="1600" dirty="0"/>
              <a:t> </a:t>
            </a:r>
            <a:r>
              <a:rPr lang="nl-BE" sz="1600" dirty="0" err="1"/>
              <a:t>your</a:t>
            </a:r>
            <a:r>
              <a:rPr lang="nl-BE" sz="1600" dirty="0"/>
              <a:t> </a:t>
            </a:r>
            <a:r>
              <a:rPr lang="nl-BE" sz="1600" dirty="0" err="1"/>
              <a:t>yourself</a:t>
            </a:r>
            <a:r>
              <a:rPr lang="nl-BE" sz="1600" dirty="0"/>
              <a:t> </a:t>
            </a:r>
            <a:r>
              <a:rPr lang="nl-BE" sz="1600" dirty="0" err="1"/>
              <a:t>whether</a:t>
            </a:r>
            <a:r>
              <a:rPr lang="nl-BE" sz="1600" dirty="0"/>
              <a:t> or </a:t>
            </a:r>
            <a:r>
              <a:rPr lang="nl-BE" sz="1600" dirty="0" err="1"/>
              <a:t>not</a:t>
            </a:r>
            <a:r>
              <a:rPr lang="nl-BE" sz="1600" dirty="0"/>
              <a:t> </a:t>
            </a:r>
            <a:r>
              <a:rPr lang="nl-BE" sz="1600" dirty="0" err="1"/>
              <a:t>you</a:t>
            </a:r>
            <a:r>
              <a:rPr lang="nl-BE" sz="1600" dirty="0"/>
              <a:t> </a:t>
            </a:r>
            <a:r>
              <a:rPr lang="nl-BE" sz="1600" dirty="0" err="1"/>
              <a:t>would</a:t>
            </a:r>
            <a:r>
              <a:rPr lang="nl-BE" sz="1600" dirty="0"/>
              <a:t> like </a:t>
            </a:r>
            <a:r>
              <a:rPr lang="nl-BE" sz="1600" dirty="0" err="1"/>
              <a:t>to</a:t>
            </a:r>
            <a:r>
              <a:rPr lang="nl-BE" sz="1600" dirty="0"/>
              <a:t> </a:t>
            </a:r>
            <a:r>
              <a:rPr lang="nl-BE" sz="1600" dirty="0" err="1"/>
              <a:t>join</a:t>
            </a:r>
            <a:r>
              <a:rPr lang="nl-BE" sz="1600" dirty="0"/>
              <a:t> </a:t>
            </a:r>
            <a:r>
              <a:rPr lang="nl-BE" sz="1600" dirty="0" err="1"/>
              <a:t>the</a:t>
            </a:r>
            <a:r>
              <a:rPr lang="nl-BE" sz="1600" dirty="0"/>
              <a:t> intro track.</a:t>
            </a:r>
          </a:p>
          <a:p>
            <a:pPr marL="457200" lvl="1" indent="0">
              <a:buNone/>
            </a:pPr>
            <a:endParaRPr lang="nl-BE" sz="1600" dirty="0"/>
          </a:p>
          <a:p>
            <a:pPr lvl="1"/>
            <a:r>
              <a:rPr lang="nl-BE" sz="1600" b="1" dirty="0"/>
              <a:t>Learning a lot? </a:t>
            </a:r>
            <a:r>
              <a:rPr lang="nl-BE" sz="1600" dirty="0"/>
              <a:t>We </a:t>
            </a:r>
            <a:r>
              <a:rPr lang="nl-BE" sz="1600" dirty="0" err="1"/>
              <a:t>recommend</a:t>
            </a:r>
            <a:r>
              <a:rPr lang="nl-BE" sz="1600" dirty="0"/>
              <a:t> </a:t>
            </a:r>
            <a:r>
              <a:rPr lang="nl-BE" sz="1600" dirty="0" err="1"/>
              <a:t>you</a:t>
            </a:r>
            <a:r>
              <a:rPr lang="nl-BE" sz="1600" dirty="0"/>
              <a:t> </a:t>
            </a:r>
            <a:r>
              <a:rPr lang="nl-BE" sz="1600" dirty="0" err="1"/>
              <a:t>stay</a:t>
            </a:r>
            <a:r>
              <a:rPr lang="nl-BE" sz="1600" dirty="0"/>
              <a:t> in </a:t>
            </a:r>
            <a:r>
              <a:rPr lang="nl-BE" sz="1600" dirty="0" err="1"/>
              <a:t>the</a:t>
            </a:r>
            <a:r>
              <a:rPr lang="nl-BE" sz="1600" dirty="0"/>
              <a:t> </a:t>
            </a:r>
            <a:r>
              <a:rPr lang="nl-BE" sz="1600" dirty="0" err="1"/>
              <a:t>introduction</a:t>
            </a:r>
            <a:r>
              <a:rPr lang="nl-BE" sz="1600" dirty="0"/>
              <a:t> track. </a:t>
            </a:r>
            <a:r>
              <a:rPr lang="nl-BE" sz="1600" dirty="0" err="1"/>
              <a:t>You’ll</a:t>
            </a:r>
            <a:r>
              <a:rPr lang="nl-BE" sz="1600" dirty="0"/>
              <a:t> </a:t>
            </a:r>
            <a:r>
              <a:rPr lang="nl-BE" sz="1600" dirty="0" err="1"/>
              <a:t>need</a:t>
            </a:r>
            <a:r>
              <a:rPr lang="nl-BE" sz="1600" dirty="0"/>
              <a:t> a bit more background </a:t>
            </a:r>
            <a:r>
              <a:rPr lang="nl-BE" sz="1600" dirty="0" err="1"/>
              <a:t>to</a:t>
            </a:r>
            <a:r>
              <a:rPr lang="nl-BE" sz="1600" dirty="0"/>
              <a:t> keep track </a:t>
            </a:r>
            <a:endParaRPr lang="nl-BE" sz="1600" b="1" dirty="0"/>
          </a:p>
          <a:p>
            <a:pPr lvl="1"/>
            <a:endParaRPr lang="nl-BE" sz="1600" b="1" dirty="0"/>
          </a:p>
          <a:p>
            <a:pPr marL="0" indent="0">
              <a:buNone/>
            </a:pPr>
            <a:r>
              <a:rPr lang="nl-BE" sz="2000" b="1" dirty="0" err="1">
                <a:solidFill>
                  <a:schemeClr val="accent2"/>
                </a:solidFill>
              </a:rPr>
              <a:t>Those</a:t>
            </a:r>
            <a:r>
              <a:rPr lang="nl-BE" sz="2000" b="1" dirty="0">
                <a:solidFill>
                  <a:schemeClr val="accent2"/>
                </a:solidFill>
              </a:rPr>
              <a:t> skipping </a:t>
            </a:r>
            <a:r>
              <a:rPr lang="nl-BE" sz="2000" b="1" dirty="0" err="1">
                <a:solidFill>
                  <a:schemeClr val="accent2"/>
                </a:solidFill>
              </a:rPr>
              <a:t>the</a:t>
            </a:r>
            <a:r>
              <a:rPr lang="nl-BE" sz="2000" b="1" dirty="0">
                <a:solidFill>
                  <a:schemeClr val="accent2"/>
                </a:solidFill>
              </a:rPr>
              <a:t> </a:t>
            </a:r>
            <a:r>
              <a:rPr lang="nl-BE" sz="2000" b="1" dirty="0" err="1">
                <a:solidFill>
                  <a:schemeClr val="accent2"/>
                </a:solidFill>
              </a:rPr>
              <a:t>introduction</a:t>
            </a:r>
            <a:r>
              <a:rPr lang="nl-BE" sz="2000" b="1" dirty="0">
                <a:solidFill>
                  <a:schemeClr val="accent2"/>
                </a:solidFill>
              </a:rPr>
              <a:t> track </a:t>
            </a:r>
            <a:r>
              <a:rPr lang="nl-BE" sz="2000" b="1" dirty="0" err="1">
                <a:solidFill>
                  <a:schemeClr val="accent2"/>
                </a:solidFill>
              </a:rPr>
              <a:t>can</a:t>
            </a:r>
            <a:r>
              <a:rPr lang="nl-BE" sz="2000" b="1" dirty="0">
                <a:solidFill>
                  <a:schemeClr val="accent2"/>
                </a:solidFill>
              </a:rPr>
              <a:t> </a:t>
            </a:r>
            <a:r>
              <a:rPr lang="nl-BE" sz="2000" b="1" dirty="0" err="1">
                <a:solidFill>
                  <a:schemeClr val="accent2"/>
                </a:solidFill>
              </a:rPr>
              <a:t>join</a:t>
            </a:r>
            <a:r>
              <a:rPr lang="nl-BE" sz="2000" b="1" dirty="0">
                <a:solidFill>
                  <a:schemeClr val="accent2"/>
                </a:solidFill>
              </a:rPr>
              <a:t> </a:t>
            </a:r>
            <a:r>
              <a:rPr lang="nl-BE" sz="2000" b="1" dirty="0" err="1">
                <a:solidFill>
                  <a:schemeClr val="accent2"/>
                </a:solidFill>
              </a:rPr>
              <a:t>all</a:t>
            </a:r>
            <a:r>
              <a:rPr lang="nl-BE" sz="2000" b="1" dirty="0">
                <a:solidFill>
                  <a:schemeClr val="accent2"/>
                </a:solidFill>
              </a:rPr>
              <a:t> </a:t>
            </a:r>
            <a:r>
              <a:rPr lang="nl-BE" sz="2000" b="1" dirty="0" err="1">
                <a:solidFill>
                  <a:schemeClr val="accent2"/>
                </a:solidFill>
              </a:rPr>
              <a:t>three</a:t>
            </a:r>
            <a:r>
              <a:rPr lang="nl-BE" sz="2000" b="1" dirty="0">
                <a:solidFill>
                  <a:schemeClr val="accent2"/>
                </a:solidFill>
              </a:rPr>
              <a:t> ‘</a:t>
            </a:r>
            <a:r>
              <a:rPr lang="nl-BE" sz="2000" b="1" dirty="0" err="1">
                <a:solidFill>
                  <a:schemeClr val="accent2"/>
                </a:solidFill>
              </a:rPr>
              <a:t>local</a:t>
            </a:r>
            <a:r>
              <a:rPr lang="nl-BE" sz="2000" b="1" dirty="0">
                <a:solidFill>
                  <a:schemeClr val="accent2"/>
                </a:solidFill>
              </a:rPr>
              <a:t>’ workshops!</a:t>
            </a:r>
            <a:br>
              <a:rPr lang="nl-BE" sz="2000" dirty="0"/>
            </a:br>
            <a:endParaRPr lang="nl-BE" sz="2000" b="1" dirty="0"/>
          </a:p>
          <a:p>
            <a:pPr lvl="1"/>
            <a:endParaRPr lang="nl-BE" sz="1600" dirty="0"/>
          </a:p>
          <a:p>
            <a:pPr lvl="1"/>
            <a:endParaRPr lang="nl-BE" sz="1600" dirty="0"/>
          </a:p>
        </p:txBody>
      </p:sp>
      <p:pic>
        <p:nvPicPr>
          <p:cNvPr id="4" name="Afbeelding 3" descr="Diagram met antwoorden op het Formulier. Titel van de vraag: How would you rank your experience with Python?. Aantal antwoorden: 8 antwoorden.">
            <a:extLst>
              <a:ext uri="{FF2B5EF4-FFF2-40B4-BE49-F238E27FC236}">
                <a16:creationId xmlns:a16="http://schemas.microsoft.com/office/drawing/2014/main" id="{2B5FFAD3-93BD-F19C-64F7-41179BBFF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303" y="168479"/>
            <a:ext cx="7236996" cy="3045075"/>
          </a:xfrm>
          <a:prstGeom prst="rect">
            <a:avLst/>
          </a:prstGeom>
        </p:spPr>
      </p:pic>
      <p:pic>
        <p:nvPicPr>
          <p:cNvPr id="5" name="Afbeelding 4" descr="Diagram met antwoorden op het Formulier. Titel van de vraag: Are you familiar with git and repositories?. Aantal antwoorden: 8 antwoorden.">
            <a:extLst>
              <a:ext uri="{FF2B5EF4-FFF2-40B4-BE49-F238E27FC236}">
                <a16:creationId xmlns:a16="http://schemas.microsoft.com/office/drawing/2014/main" id="{770236AE-45DC-4A91-F80E-6515B83CA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794" y="3018307"/>
            <a:ext cx="7236996" cy="304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53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46A463-D9DC-3211-6F46-894E17DCC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Day 1 : </a:t>
            </a:r>
            <a:r>
              <a:rPr lang="nl-BE" dirty="0" err="1"/>
              <a:t>Afternoon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9C9DA9-FE12-C47C-9B64-4ADFD250B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61831"/>
            <a:ext cx="10626213" cy="4351338"/>
          </a:xfrm>
        </p:spPr>
        <p:txBody>
          <a:bodyPr>
            <a:normAutofit/>
          </a:bodyPr>
          <a:lstStyle/>
          <a:p>
            <a:pPr lvl="0"/>
            <a:r>
              <a:rPr lang="nl-BE" b="1" dirty="0"/>
              <a:t>Workshop 1 : An intro </a:t>
            </a:r>
            <a:r>
              <a:rPr lang="nl-BE" b="1" dirty="0" err="1"/>
              <a:t>to</a:t>
            </a:r>
            <a:r>
              <a:rPr lang="nl-BE" b="1" dirty="0"/>
              <a:t> Python </a:t>
            </a:r>
            <a:r>
              <a:rPr lang="nl-BE" b="1" dirty="0" err="1"/>
              <a:t>for</a:t>
            </a:r>
            <a:r>
              <a:rPr lang="nl-BE" b="1" dirty="0"/>
              <a:t> Engineers in a time of AI</a:t>
            </a:r>
            <a:endParaRPr lang="nl-BE" dirty="0"/>
          </a:p>
          <a:p>
            <a:pPr lvl="1"/>
            <a:r>
              <a:rPr lang="nl-BE" dirty="0"/>
              <a:t>Python </a:t>
            </a:r>
            <a:r>
              <a:rPr lang="nl-BE" dirty="0" err="1"/>
              <a:t>fundamentals</a:t>
            </a:r>
            <a:endParaRPr lang="nl-BE" dirty="0"/>
          </a:p>
          <a:p>
            <a:pPr lvl="1"/>
            <a:r>
              <a:rPr lang="nl-BE" dirty="0"/>
              <a:t>Python </a:t>
            </a:r>
            <a:r>
              <a:rPr lang="nl-BE" dirty="0" err="1"/>
              <a:t>testing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Engineers; </a:t>
            </a:r>
            <a:r>
              <a:rPr lang="nl-BE" dirty="0" err="1"/>
              <a:t>getting</a:t>
            </a:r>
            <a:r>
              <a:rPr lang="nl-BE" dirty="0"/>
              <a:t> </a:t>
            </a:r>
            <a:r>
              <a:rPr lang="nl-BE" dirty="0" err="1"/>
              <a:t>your</a:t>
            </a:r>
            <a:r>
              <a:rPr lang="nl-BE" dirty="0"/>
              <a:t> code </a:t>
            </a:r>
            <a:r>
              <a:rPr lang="nl-BE" dirty="0" err="1"/>
              <a:t>properly</a:t>
            </a:r>
            <a:r>
              <a:rPr lang="nl-BE" dirty="0"/>
              <a:t> '</a:t>
            </a:r>
            <a:r>
              <a:rPr lang="nl-BE" dirty="0" err="1"/>
              <a:t>covered</a:t>
            </a:r>
            <a:r>
              <a:rPr lang="nl-BE" dirty="0"/>
              <a:t>'!</a:t>
            </a:r>
          </a:p>
          <a:p>
            <a:pPr lvl="1"/>
            <a:r>
              <a:rPr lang="nl-BE" dirty="0" err="1"/>
              <a:t>Coding</a:t>
            </a:r>
            <a:r>
              <a:rPr lang="nl-BE" dirty="0"/>
              <a:t> </a:t>
            </a:r>
            <a:r>
              <a:rPr lang="nl-BE" dirty="0" err="1"/>
              <a:t>collaboratively</a:t>
            </a:r>
            <a:r>
              <a:rPr lang="nl-BE" dirty="0"/>
              <a:t>; a Hands-on intro </a:t>
            </a:r>
            <a:r>
              <a:rPr lang="nl-BE" dirty="0" err="1"/>
              <a:t>to</a:t>
            </a:r>
            <a:r>
              <a:rPr lang="nl-BE" dirty="0"/>
              <a:t> GIT </a:t>
            </a:r>
            <a:r>
              <a:rPr lang="nl-BE" dirty="0" err="1"/>
              <a:t>and</a:t>
            </a:r>
            <a:r>
              <a:rPr lang="nl-BE" dirty="0"/>
              <a:t> </a:t>
            </a:r>
            <a:r>
              <a:rPr lang="nl-BE" dirty="0" err="1"/>
              <a:t>open-source</a:t>
            </a:r>
            <a:endParaRPr lang="nl-BE" dirty="0"/>
          </a:p>
          <a:p>
            <a:pPr lvl="1"/>
            <a:r>
              <a:rPr lang="nl-BE" dirty="0"/>
              <a:t>Setting up environments </a:t>
            </a:r>
            <a:r>
              <a:rPr lang="nl-BE" dirty="0" err="1"/>
              <a:t>using</a:t>
            </a:r>
            <a:r>
              <a:rPr lang="nl-BE" dirty="0"/>
              <a:t> </a:t>
            </a:r>
            <a:r>
              <a:rPr lang="nl-BE" dirty="0" err="1"/>
              <a:t>uv</a:t>
            </a:r>
            <a:endParaRPr lang="nl-BE" dirty="0"/>
          </a:p>
          <a:p>
            <a:pPr lvl="0"/>
            <a:r>
              <a:rPr lang="nl-BE" b="1" dirty="0"/>
              <a:t>Workshop 2: Signal processing </a:t>
            </a:r>
            <a:r>
              <a:rPr lang="nl-BE" b="1" dirty="0" err="1"/>
              <a:t>for</a:t>
            </a:r>
            <a:r>
              <a:rPr lang="nl-BE" b="1" dirty="0"/>
              <a:t> SHM</a:t>
            </a:r>
            <a:br>
              <a:rPr lang="nl-BE" dirty="0"/>
            </a:br>
            <a:r>
              <a:rPr lang="nl-BE" i="1" dirty="0" err="1"/>
              <a:t>Deep</a:t>
            </a:r>
            <a:r>
              <a:rPr lang="nl-BE" i="1" dirty="0"/>
              <a:t> </a:t>
            </a:r>
            <a:r>
              <a:rPr lang="nl-BE" i="1" dirty="0" err="1"/>
              <a:t>dive</a:t>
            </a:r>
            <a:r>
              <a:rPr lang="nl-BE" i="1" dirty="0"/>
              <a:t> in signal processing </a:t>
            </a:r>
            <a:r>
              <a:rPr lang="nl-BE" i="1" dirty="0" err="1"/>
              <a:t>for</a:t>
            </a:r>
            <a:r>
              <a:rPr lang="nl-BE" i="1" dirty="0"/>
              <a:t> SHM, incl. </a:t>
            </a:r>
            <a:r>
              <a:rPr lang="nl-BE" i="1" dirty="0" err="1"/>
              <a:t>pyOMA</a:t>
            </a:r>
            <a:endParaRPr lang="nl-BE" dirty="0"/>
          </a:p>
          <a:p>
            <a:endParaRPr lang="nl-BE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8421C1EE-53E5-671A-2C4F-06FC351D372A}"/>
              </a:ext>
            </a:extLst>
          </p:cNvPr>
          <p:cNvSpPr txBox="1"/>
          <p:nvPr/>
        </p:nvSpPr>
        <p:spPr>
          <a:xfrm>
            <a:off x="838198" y="5026837"/>
            <a:ext cx="333437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/>
              <a:t>End of </a:t>
            </a:r>
            <a:r>
              <a:rPr lang="nl-BE" dirty="0" err="1"/>
              <a:t>day</a:t>
            </a:r>
            <a:r>
              <a:rPr lang="nl-BE" dirty="0"/>
              <a:t> </a:t>
            </a:r>
            <a:r>
              <a:rPr lang="nl-BE" dirty="0" err="1"/>
              <a:t>around</a:t>
            </a:r>
            <a:r>
              <a:rPr lang="nl-BE" dirty="0"/>
              <a:t> 16:30 – 17:00</a:t>
            </a:r>
          </a:p>
        </p:txBody>
      </p:sp>
    </p:spTree>
    <p:extLst>
      <p:ext uri="{BB962C8B-B14F-4D97-AF65-F5344CB8AC3E}">
        <p14:creationId xmlns:p14="http://schemas.microsoft.com/office/powerpoint/2010/main" val="574014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526831-E7A8-9B42-FA9E-D90F47D8E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Conference </a:t>
            </a:r>
            <a:r>
              <a:rPr lang="nl-BE" dirty="0" err="1"/>
              <a:t>dinner</a:t>
            </a:r>
            <a:r>
              <a:rPr lang="nl-BE" dirty="0"/>
              <a:t> at </a:t>
            </a:r>
            <a:r>
              <a:rPr lang="nl-BE" dirty="0" err="1"/>
              <a:t>leMess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61D9C3-2C4B-7D7C-907C-0AF96B5A3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9039" cy="4351338"/>
          </a:xfrm>
        </p:spPr>
        <p:txBody>
          <a:bodyPr/>
          <a:lstStyle/>
          <a:p>
            <a:r>
              <a:rPr lang="nl-BE" dirty="0"/>
              <a:t>For </a:t>
            </a:r>
            <a:r>
              <a:rPr lang="nl-BE" dirty="0" err="1"/>
              <a:t>those</a:t>
            </a:r>
            <a:r>
              <a:rPr lang="nl-BE" dirty="0"/>
              <a:t> </a:t>
            </a:r>
            <a:r>
              <a:rPr lang="nl-BE" dirty="0" err="1"/>
              <a:t>who</a:t>
            </a:r>
            <a:r>
              <a:rPr lang="nl-BE" dirty="0"/>
              <a:t> have </a:t>
            </a:r>
            <a:r>
              <a:rPr lang="nl-BE" dirty="0" err="1"/>
              <a:t>registered</a:t>
            </a:r>
            <a:r>
              <a:rPr lang="nl-BE" dirty="0"/>
              <a:t>; we meet in front of </a:t>
            </a:r>
            <a:r>
              <a:rPr lang="nl-BE" dirty="0" err="1"/>
              <a:t>LeMess</a:t>
            </a:r>
            <a:r>
              <a:rPr lang="nl-BE" dirty="0"/>
              <a:t> at 18:25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7B19FBC-29BC-18E8-0187-5AF8E4B25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995" y="1637072"/>
            <a:ext cx="5193626" cy="3583856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AAE4121D-C9A7-3EBC-5876-E33732BAE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326" y="3504143"/>
            <a:ext cx="1716785" cy="1716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721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8">
            <a:extLst>
              <a:ext uri="{FF2B5EF4-FFF2-40B4-BE49-F238E27FC236}">
                <a16:creationId xmlns:a16="http://schemas.microsoft.com/office/drawing/2014/main" id="{3A981855-DEE2-5DCD-AFF1-E59AF6C72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00037" cy="6858000"/>
          </a:xfrm>
          <a:prstGeom prst="rect">
            <a:avLst/>
          </a:prstGeom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910DEA9F-EB98-4F15-0A99-11359AD767D9}"/>
              </a:ext>
            </a:extLst>
          </p:cNvPr>
          <p:cNvSpPr txBox="1"/>
          <p:nvPr/>
        </p:nvSpPr>
        <p:spPr>
          <a:xfrm>
            <a:off x="4800598" y="6324695"/>
            <a:ext cx="3334374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nl-BE" dirty="0"/>
              <a:t>End of </a:t>
            </a:r>
            <a:r>
              <a:rPr lang="nl-BE" dirty="0" err="1"/>
              <a:t>day</a:t>
            </a:r>
            <a:r>
              <a:rPr lang="nl-BE" dirty="0"/>
              <a:t> </a:t>
            </a:r>
            <a:r>
              <a:rPr lang="nl-BE" dirty="0" err="1"/>
              <a:t>around</a:t>
            </a:r>
            <a:r>
              <a:rPr lang="nl-BE" dirty="0"/>
              <a:t> 16:30 – 17:00</a:t>
            </a:r>
          </a:p>
        </p:txBody>
      </p:sp>
    </p:spTree>
    <p:extLst>
      <p:ext uri="{BB962C8B-B14F-4D97-AF65-F5344CB8AC3E}">
        <p14:creationId xmlns:p14="http://schemas.microsoft.com/office/powerpoint/2010/main" val="1893803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EC471-7918-24E9-8458-E4BE2D91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FA292-A63C-05D7-C764-A80D1EB1D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4F2B4D0-070D-04C1-6B1C-5F0B291F1D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E2B1C43-641C-9130-0B57-627F40304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1233"/>
          </a:xfrm>
          <a:prstGeom prst="rect">
            <a:avLst/>
          </a:prstGeo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B6BE6BFC-619C-7C50-362C-3575A78511CA}"/>
              </a:ext>
            </a:extLst>
          </p:cNvPr>
          <p:cNvSpPr txBox="1"/>
          <p:nvPr/>
        </p:nvSpPr>
        <p:spPr>
          <a:xfrm>
            <a:off x="2748116" y="5257800"/>
            <a:ext cx="6695767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nl-BE" dirty="0"/>
              <a:t>Need wifi? </a:t>
            </a:r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dirty="0" err="1"/>
              <a:t>possible</a:t>
            </a:r>
            <a:r>
              <a:rPr lang="nl-BE" dirty="0"/>
              <a:t> </a:t>
            </a:r>
            <a:r>
              <a:rPr lang="nl-BE" dirty="0" err="1"/>
              <a:t>use</a:t>
            </a:r>
            <a:r>
              <a:rPr lang="nl-BE" dirty="0"/>
              <a:t> </a:t>
            </a:r>
            <a:r>
              <a:rPr lang="nl-BE" b="1" dirty="0" err="1"/>
              <a:t>Eduroam</a:t>
            </a:r>
            <a:endParaRPr lang="nl-BE" b="1" dirty="0"/>
          </a:p>
          <a:p>
            <a:pPr algn="ctr"/>
            <a:r>
              <a:rPr lang="nl-BE" dirty="0"/>
              <a:t> Else let </a:t>
            </a:r>
            <a:r>
              <a:rPr lang="nl-BE" dirty="0" err="1"/>
              <a:t>us</a:t>
            </a:r>
            <a:r>
              <a:rPr lang="nl-BE" dirty="0"/>
              <a:t> </a:t>
            </a:r>
            <a:r>
              <a:rPr lang="nl-BE" dirty="0" err="1"/>
              <a:t>know</a:t>
            </a:r>
            <a:r>
              <a:rPr lang="nl-BE" dirty="0"/>
              <a:t> </a:t>
            </a:r>
            <a:r>
              <a:rPr lang="nl-BE" dirty="0" err="1"/>
              <a:t>for</a:t>
            </a:r>
            <a:r>
              <a:rPr lang="nl-BE" dirty="0"/>
              <a:t> a personal login</a:t>
            </a:r>
          </a:p>
        </p:txBody>
      </p:sp>
    </p:spTree>
    <p:extLst>
      <p:ext uri="{BB962C8B-B14F-4D97-AF65-F5344CB8AC3E}">
        <p14:creationId xmlns:p14="http://schemas.microsoft.com/office/powerpoint/2010/main" val="10385010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DividendVTI">
  <a:themeElements>
    <a:clrScheme name="VUB_custom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003F69"/>
      </a:accent1>
      <a:accent2>
        <a:srgbClr val="FF6600"/>
      </a:accent2>
      <a:accent3>
        <a:srgbClr val="5DBEFF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796</Words>
  <Application>Microsoft Office PowerPoint</Application>
  <PresentationFormat>Breedbeeld</PresentationFormat>
  <Paragraphs>190</Paragraphs>
  <Slides>16</Slides>
  <Notes>4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Franklin Gothic Book</vt:lpstr>
      <vt:lpstr>Franklin Gothic Demi</vt:lpstr>
      <vt:lpstr>Wingdings 2</vt:lpstr>
      <vt:lpstr>Kantoorthema</vt:lpstr>
      <vt:lpstr>1_DividendVTI</vt:lpstr>
      <vt:lpstr>PowerPoint-presentatie</vt:lpstr>
      <vt:lpstr>OpenSD : From Ljubljana to the world</vt:lpstr>
      <vt:lpstr>Context</vt:lpstr>
      <vt:lpstr>Why we go for open Source?</vt:lpstr>
      <vt:lpstr>Context</vt:lpstr>
      <vt:lpstr>Context</vt:lpstr>
      <vt:lpstr>Context</vt:lpstr>
      <vt:lpstr>PowerPoint-presentatie</vt:lpstr>
      <vt:lpstr>PowerPoint-presentatie</vt:lpstr>
      <vt:lpstr>Who are you?</vt:lpstr>
      <vt:lpstr>Agenda</vt:lpstr>
      <vt:lpstr>Day 1: Idea</vt:lpstr>
      <vt:lpstr>Day 1 : Afternoon</vt:lpstr>
      <vt:lpstr>Conference dinner at leMess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Wout Weijtjens</dc:creator>
  <cp:lastModifiedBy>Wout Weijtjens</cp:lastModifiedBy>
  <cp:revision>2</cp:revision>
  <dcterms:created xsi:type="dcterms:W3CDTF">2026-09-07T07:21:48Z</dcterms:created>
  <dcterms:modified xsi:type="dcterms:W3CDTF">2026-09-07T08:05:05Z</dcterms:modified>
</cp:coreProperties>
</file>